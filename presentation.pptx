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96" r:id="rId3"/>
    <p:sldId id="256" r:id="rId4"/>
    <p:sldId id="274" r:id="rId5"/>
    <p:sldId id="273" r:id="rId6"/>
    <p:sldId id="275" r:id="rId7"/>
    <p:sldId id="276" r:id="rId8"/>
    <p:sldId id="283" r:id="rId9"/>
    <p:sldId id="286" r:id="rId10"/>
    <p:sldId id="280" r:id="rId11"/>
    <p:sldId id="287" r:id="rId12"/>
    <p:sldId id="288" r:id="rId13"/>
    <p:sldId id="267" r:id="rId14"/>
    <p:sldId id="294" r:id="rId15"/>
    <p:sldId id="289" r:id="rId16"/>
    <p:sldId id="290" r:id="rId17"/>
    <p:sldId id="282" r:id="rId18"/>
    <p:sldId id="293" r:id="rId19"/>
    <p:sldId id="292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8FF"/>
    <a:srgbClr val="E1EEFA"/>
    <a:srgbClr val="EFF9FF"/>
    <a:srgbClr val="E7F9FF"/>
    <a:srgbClr val="E7ECFF"/>
    <a:srgbClr val="C9F2FF"/>
    <a:srgbClr val="1565C0"/>
    <a:srgbClr val="FAFDFF"/>
    <a:srgbClr val="7DB2E3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50" d="100"/>
          <a:sy n="50" d="100"/>
        </p:scale>
        <p:origin x="29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8E5E3-BF89-47DC-81FB-515D44754965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0A6D4-D159-49E7-B9F6-E1B2E8E81DE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695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7E3B-1B21-B200-C4CB-ADEA58F9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80567-521B-1018-FCEF-998693DC1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57AED-5A43-5631-2E35-726FA6DB3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9DA88-17A0-B323-1293-DAC886762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034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E17B9-FA91-FACB-8A87-70FF6408E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CD7C0-3D44-9319-B916-C7EFCFD97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53D7F-FA82-63C3-6400-B099563AA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13607-B7DE-AE11-8960-1D32C1ECD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918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A6698-4DA4-2AEA-0D31-4C0FE81AB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76DBD-3E57-B43D-5447-986599CC3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A94B1-5C4E-3449-A43F-5577B444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E1C89-F573-F2E8-1B23-84D31BBF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13964-3DC6-1425-ACA0-28135A7D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714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8C8F-4EE3-DA64-EDC2-89C1A63B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84229-4D16-9B61-7A64-D10C5B8F6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55155-2550-1E87-205D-57C3D100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D9E4E-0961-251F-BC41-AAC70F54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05981-84B4-CD1F-9806-B87FD409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77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02BC-9D47-A4FF-D5AF-61C2F671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790FA-284B-4546-CBD2-755F202BD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30DA-06B8-65AF-A311-DAE20729B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A626C-F3BC-C479-1BEE-70C7FB04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BD08B-E2BD-C5A4-F6C9-6318BABB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72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2FC4-CCAC-287A-DE0F-90C2562E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102A-9C5B-674D-ACB7-EC6F45336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092E2-B2E9-66CD-52A0-F2B611218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1C222-B499-F849-A33C-463D8D9C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12E52-8DEF-2BBD-7C30-CD5EC879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E0FAF-3A9E-C937-56FF-B9E85AE3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93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8B77-D8DA-EA48-5FF5-76B490FE3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F3A8E-9F3E-B035-0D05-DE3FE479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C6678-053A-CBF7-0A75-034784189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5BFEA-6FDB-2906-C01A-FDFEEF0AB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B9D7D-5DEF-197D-4595-5368BC4CA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644CD8-5FA8-2F77-87D1-E3E5F8A5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03FFF-046D-ACC5-B5B8-5816D1C2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3162FD-7E9C-9811-657F-DD29DE00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009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6796-F909-9DD3-A93F-AD3B4374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4F1E5-E5B2-B729-B465-C7B17F60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71A6-0B44-7425-3075-16E2DAAD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4E851-08D5-224C-E905-698E2865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4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9988E-8178-2B30-B8C5-78D1D0726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26AD1-3E86-534B-B255-5BDE0B8C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8916F-8774-CB35-3E28-69D2ED40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48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B122-EE68-3F05-9DC5-24782C76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31426-A9B6-6709-36D9-B88F7AD4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B3A5C-2CF3-0792-9F44-CD2D8FD23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DAD33-6537-564D-6948-035CB8E9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E1D27-22CA-B468-F5B1-5FE569C58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57D32-DF55-6D33-3140-E99417EA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603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5EC1-CA4B-82D0-4B3C-E90BD8782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90923-6B34-EAC9-1B91-B63C64FE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8D6DD-9D5E-9C3F-6E18-AAAED25B6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FAFA3-F2DD-9426-F24F-5F02CB25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31705-3BA0-D169-78E7-FC684837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F79BD-14CC-1C3D-2FC1-D648B331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382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1F97-8A48-45B0-062A-EDC9A9F5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D1C5B-3604-F39A-0BEB-355C45B40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0B2C0-E3A9-D040-947A-9C886755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E1CF-0FD8-6988-B1EF-4E9BAD7A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2CFAC-54E9-AFCB-11CA-3BF74EF2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568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76269-F80C-4814-A330-B20E6C12F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18CF2-F87B-5A0C-7E68-575895AB9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2E333-DE6D-C8B9-F6C6-B1FD4707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C106-2126-F04A-7218-019228BD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A1209-B999-66C8-C39A-C099BB06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9252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248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92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44CA7-10AB-7485-64D6-8F259281C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A9C03-50A4-CA42-7363-14C92D2AA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CA81C-0B66-EC16-1340-679280BDC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D8981-22EF-4AA8-9758-53654CFE25A2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44F9F-EA81-7FCF-88C3-2B72EAA07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69993-251D-F735-416A-D202E88C2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30D38-1425-4753-A3C6-FAAF9DADCBB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660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6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2418-34A9-E185-9A09-68B02F34EB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Tabella da usare se vi serve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6F4AB2-3959-7757-8D08-D72D62B50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77536"/>
              </p:ext>
            </p:extLst>
          </p:nvPr>
        </p:nvGraphicFramePr>
        <p:xfrm>
          <a:off x="1160525" y="4000968"/>
          <a:ext cx="9870950" cy="195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190">
                  <a:extLst>
                    <a:ext uri="{9D8B030D-6E8A-4147-A177-3AD203B41FA5}">
                      <a16:colId xmlns:a16="http://schemas.microsoft.com/office/drawing/2014/main" val="294759772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2132361140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2229985710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3458627234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4237886236"/>
                    </a:ext>
                  </a:extLst>
                </a:gridCol>
              </a:tblGrid>
              <a:tr h="391476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Fake Acc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Fake F1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n>
                            <a:noFill/>
                          </a:ln>
                        </a:rPr>
                        <a:t>Transform</a:t>
                      </a:r>
                      <a:r>
                        <a:rPr lang="it-IT" dirty="0">
                          <a:ln>
                            <a:noFill/>
                          </a:ln>
                        </a:rPr>
                        <a:t> Acc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n>
                            <a:noFill/>
                          </a:ln>
                        </a:rPr>
                        <a:t>Transform</a:t>
                      </a:r>
                      <a:r>
                        <a:rPr lang="it-IT" dirty="0">
                          <a:ln>
                            <a:noFill/>
                          </a:ln>
                        </a:rPr>
                        <a:t> F1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679809"/>
                  </a:ext>
                </a:extLst>
              </a:tr>
              <a:tr h="391476"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71505"/>
                  </a:ext>
                </a:extLst>
              </a:tr>
              <a:tr h="391476"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228787"/>
                  </a:ext>
                </a:extLst>
              </a:tr>
              <a:tr h="391476"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8501"/>
                  </a:ext>
                </a:extLst>
              </a:tr>
              <a:tr h="391476"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181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8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D8C1-F84D-1ADE-B148-EAD0764FF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0497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it-IT" b="1" dirty="0"/>
              <a:t>Joint </a:t>
            </a:r>
            <a:r>
              <a:rPr lang="it-IT" b="1" dirty="0" err="1"/>
              <a:t>Detection</a:t>
            </a:r>
            <a:r>
              <a:rPr lang="it-IT" b="1" dirty="0"/>
              <a:t> of AI-</a:t>
            </a:r>
            <a:r>
              <a:rPr lang="it-IT" b="1" dirty="0" err="1"/>
              <a:t>Generated</a:t>
            </a:r>
            <a:r>
              <a:rPr lang="it-IT" b="1" dirty="0"/>
              <a:t> Images and Post-Processing </a:t>
            </a:r>
            <a:r>
              <a:rPr lang="it-IT" b="1" dirty="0" err="1"/>
              <a:t>Alterations</a:t>
            </a:r>
            <a:r>
              <a:rPr lang="it-IT" b="1" dirty="0"/>
              <a:t> in Real-World </a:t>
            </a:r>
            <a:r>
              <a:rPr lang="it-IT" b="1" dirty="0" err="1"/>
              <a:t>Scenarios</a:t>
            </a:r>
            <a:endParaRPr lang="it-IT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0E02E-204E-33D2-0806-6E3F318C6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5772"/>
            <a:ext cx="9144000" cy="1655762"/>
          </a:xfrm>
        </p:spPr>
        <p:txBody>
          <a:bodyPr/>
          <a:lstStyle/>
          <a:p>
            <a:pPr algn="l"/>
            <a:r>
              <a:rPr lang="it-IT" dirty="0"/>
              <a:t>Alessandro Esposito</a:t>
            </a:r>
          </a:p>
          <a:p>
            <a:pPr algn="l"/>
            <a:r>
              <a:rPr lang="it-IT" dirty="0"/>
              <a:t>Alessandro Piccolino</a:t>
            </a:r>
          </a:p>
          <a:p>
            <a:pPr algn="l"/>
            <a:r>
              <a:rPr lang="it-IT" dirty="0"/>
              <a:t>Annalisa Verrando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4D22BB8-A219-E01F-4B56-C0EEEFAC894E}"/>
              </a:ext>
            </a:extLst>
          </p:cNvPr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5C7F7"/>
          </a:solidFill>
          <a:ln w="12700">
            <a:solidFill>
              <a:srgbClr val="55C7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40EF7F6-BBD7-E3F0-CBFE-76BBAB741B8A}"/>
              </a:ext>
            </a:extLst>
          </p:cNvPr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1665B5"/>
          </a:solidFill>
          <a:ln w="12700">
            <a:solidFill>
              <a:srgbClr val="1665B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489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E01F9-7851-630E-9AC1-0FAE6CB9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C35599-3A9A-349B-4C51-C0FE08D90D7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6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6F7D7-8E29-BE05-EB84-41C086904287}"/>
              </a:ext>
            </a:extLst>
          </p:cNvPr>
          <p:cNvSpPr txBox="1"/>
          <p:nvPr/>
        </p:nvSpPr>
        <p:spPr>
          <a:xfrm>
            <a:off x="594360" y="411480"/>
            <a:ext cx="81785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206DD8"/>
                </a:solidFill>
              </a:defRPr>
            </a:pP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srgbClr val="206D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PROBLEM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206D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9044B-E123-83C0-2E4F-DD38B021322D}"/>
              </a:ext>
            </a:extLst>
          </p:cNvPr>
          <p:cNvSpPr txBox="1"/>
          <p:nvPr/>
        </p:nvSpPr>
        <p:spPr>
          <a:xfrm>
            <a:off x="594360" y="868680"/>
            <a:ext cx="679500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A2342"/>
                </a:solidFill>
              </a:defRPr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Motivation: detection </a:t>
            </a:r>
            <a:r>
              <a:rPr kumimoji="0" lang="it-IT" sz="30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 the </a:t>
            </a:r>
            <a:r>
              <a:rPr kumimoji="0" lang="it-IT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</a:t>
            </a:r>
            <a:r>
              <a:rPr kumimoji="0" lang="it-IT" sz="30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world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0A234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936CC5C-EDA5-1991-6931-AA2AC081AE05}"/>
              </a:ext>
            </a:extLst>
          </p:cNvPr>
          <p:cNvSpPr/>
          <p:nvPr/>
        </p:nvSpPr>
        <p:spPr>
          <a:xfrm>
            <a:off x="6976533" y="1910080"/>
            <a:ext cx="3977979" cy="2899664"/>
          </a:xfrm>
          <a:prstGeom prst="roundRect">
            <a:avLst/>
          </a:prstGeom>
          <a:solidFill>
            <a:srgbClr val="E5F1FF"/>
          </a:solidFill>
          <a:ln w="12700">
            <a:solidFill>
              <a:srgbClr val="BED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32F01E-B281-2423-6A0D-DBE7E12DD10E}"/>
              </a:ext>
            </a:extLst>
          </p:cNvPr>
          <p:cNvSpPr txBox="1"/>
          <p:nvPr/>
        </p:nvSpPr>
        <p:spPr>
          <a:xfrm>
            <a:off x="7389362" y="2222833"/>
            <a:ext cx="126002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206DD8"/>
                </a:solidFill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206D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 idea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296B3-56DD-C3F5-DD20-101FEED502CF}"/>
              </a:ext>
            </a:extLst>
          </p:cNvPr>
          <p:cNvSpPr txBox="1"/>
          <p:nvPr/>
        </p:nvSpPr>
        <p:spPr>
          <a:xfrm>
            <a:off x="7389362" y="2845784"/>
            <a:ext cx="30682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A2342"/>
                </a:solidFill>
              </a:rPr>
              <a:t>Real/fake detection should be evaluated under realistic post-processing conditions, not only on original images.</a:t>
            </a: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B5698CEB-78C1-07DA-A7EE-D26F34957122}"/>
              </a:ext>
            </a:extLst>
          </p:cNvPr>
          <p:cNvSpPr/>
          <p:nvPr/>
        </p:nvSpPr>
        <p:spPr>
          <a:xfrm>
            <a:off x="841248" y="1838632"/>
            <a:ext cx="0" cy="825910"/>
          </a:xfrm>
          <a:prstGeom prst="line">
            <a:avLst/>
          </a:prstGeom>
          <a:noFill/>
          <a:ln w="38100">
            <a:solidFill>
              <a:srgbClr val="0E5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B9C208E0-D5A7-5E76-87D2-60EB143D4834}"/>
              </a:ext>
            </a:extLst>
          </p:cNvPr>
          <p:cNvSpPr/>
          <p:nvPr/>
        </p:nvSpPr>
        <p:spPr>
          <a:xfrm>
            <a:off x="1042416" y="320335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evaluation is not enough</a:t>
            </a:r>
            <a:endParaRPr lang="en-US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5AE66BF-A26E-5CF8-79C2-334E31E6E710}"/>
              </a:ext>
            </a:extLst>
          </p:cNvPr>
          <p:cNvSpPr/>
          <p:nvPr/>
        </p:nvSpPr>
        <p:spPr>
          <a:xfrm>
            <a:off x="1042416" y="3547799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Images circulating online are rarely pristine: they are compressed, re-uploaded, transmitted or re-digitized.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6657842-0A66-309F-9CB2-0B6C8DC5538B}"/>
              </a:ext>
            </a:extLst>
          </p:cNvPr>
          <p:cNvSpPr/>
          <p:nvPr/>
        </p:nvSpPr>
        <p:spPr>
          <a:xfrm flipH="1">
            <a:off x="841247" y="3311639"/>
            <a:ext cx="1" cy="823648"/>
          </a:xfrm>
          <a:prstGeom prst="line">
            <a:avLst/>
          </a:prstGeom>
          <a:noFill/>
          <a:ln w="38100">
            <a:solidFill>
              <a:srgbClr val="29A97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5E3FE2A-C549-2E88-4643-5F13E380F5F7}"/>
              </a:ext>
            </a:extLst>
          </p:cNvPr>
          <p:cNvSpPr/>
          <p:nvPr/>
        </p:nvSpPr>
        <p:spPr>
          <a:xfrm>
            <a:off x="1042416" y="4575023"/>
            <a:ext cx="4846320" cy="545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question is joint</a:t>
            </a:r>
            <a:endParaRPr lang="en-US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CE8C06DD-6AD4-8D54-FEB8-6DA9CBCC1AD2}"/>
              </a:ext>
            </a:extLst>
          </p:cNvPr>
          <p:cNvSpPr/>
          <p:nvPr/>
        </p:nvSpPr>
        <p:spPr>
          <a:xfrm>
            <a:off x="1042415" y="5120640"/>
            <a:ext cx="52574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We do not only ask whether an image is real or AI-generated; we also ask which post-processing path it followed.</a:t>
            </a: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F212D114-D262-7371-DF48-39F68C770195}"/>
              </a:ext>
            </a:extLst>
          </p:cNvPr>
          <p:cNvSpPr/>
          <p:nvPr/>
        </p:nvSpPr>
        <p:spPr>
          <a:xfrm flipH="1">
            <a:off x="841247" y="4713718"/>
            <a:ext cx="1" cy="823647"/>
          </a:xfrm>
          <a:prstGeom prst="line">
            <a:avLst/>
          </a:prstGeom>
          <a:noFill/>
          <a:ln w="38100">
            <a:solidFill>
              <a:srgbClr val="F29B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2F6C9C96-4FFA-A4B2-60B9-D52CD5928340}"/>
              </a:ext>
            </a:extLst>
          </p:cNvPr>
          <p:cNvSpPr/>
          <p:nvPr/>
        </p:nvSpPr>
        <p:spPr>
          <a:xfrm>
            <a:off x="1042416" y="174536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detection</a:t>
            </a:r>
            <a:endParaRPr lang="en-US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18B5B41F-0915-725D-A8CB-A2B0A0BAD947}"/>
              </a:ext>
            </a:extLst>
          </p:cNvPr>
          <p:cNvSpPr/>
          <p:nvPr/>
        </p:nvSpPr>
        <p:spPr>
          <a:xfrm>
            <a:off x="1042415" y="2096649"/>
            <a:ext cx="5047481" cy="7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AI-generated images are increasingly realistic and detectors are often evaluated on clean benchmarks.</a:t>
            </a:r>
          </a:p>
        </p:txBody>
      </p:sp>
    </p:spTree>
    <p:extLst>
      <p:ext uri="{BB962C8B-B14F-4D97-AF65-F5344CB8AC3E}">
        <p14:creationId xmlns:p14="http://schemas.microsoft.com/office/powerpoint/2010/main" val="231097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58E3F8-B037-4C7A-774E-F0EE3DE0948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6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50DB6E5-1636-C237-8477-19BB5599352F}"/>
              </a:ext>
            </a:extLst>
          </p:cNvPr>
          <p:cNvSpPr/>
          <p:nvPr/>
        </p:nvSpPr>
        <p:spPr>
          <a:xfrm>
            <a:off x="658368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0073BFC-42AE-1520-4CB4-378F339F4598}"/>
              </a:ext>
            </a:extLst>
          </p:cNvPr>
          <p:cNvSpPr/>
          <p:nvPr/>
        </p:nvSpPr>
        <p:spPr>
          <a:xfrm>
            <a:off x="658368" y="69494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0A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Binary Detection to Joint Classification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F671F1-B8AE-9D0D-4EA3-C551D10EC4E9}"/>
              </a:ext>
            </a:extLst>
          </p:cNvPr>
          <p:cNvSpPr/>
          <p:nvPr/>
        </p:nvSpPr>
        <p:spPr>
          <a:xfrm>
            <a:off x="658368" y="1237488"/>
            <a:ext cx="9720072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Instead of only returning a binary decision, the baseline </a:t>
            </a:r>
            <a:r>
              <a:rPr lang="en-US" sz="2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jointly</a:t>
            </a:r>
            <a:r>
              <a:rPr lang="en-US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 predicts image authenticity and post-processing type.</a:t>
            </a:r>
            <a:endParaRPr lang="en-US" sz="20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977798C-28EB-A2D6-E01A-C24E466BE984}"/>
              </a:ext>
            </a:extLst>
          </p:cNvPr>
          <p:cNvSpPr/>
          <p:nvPr/>
        </p:nvSpPr>
        <p:spPr>
          <a:xfrm flipV="1">
            <a:off x="2670628" y="3337560"/>
            <a:ext cx="1398451" cy="0"/>
          </a:xfrm>
          <a:prstGeom prst="line">
            <a:avLst/>
          </a:prstGeom>
          <a:noFill/>
          <a:ln w="25400">
            <a:solidFill>
              <a:srgbClr val="B5D4E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EFF78ED-972C-C474-643F-331B66A1E8F4}"/>
              </a:ext>
            </a:extLst>
          </p:cNvPr>
          <p:cNvSpPr/>
          <p:nvPr/>
        </p:nvSpPr>
        <p:spPr>
          <a:xfrm flipV="1">
            <a:off x="5486400" y="2688336"/>
            <a:ext cx="1920240" cy="649224"/>
          </a:xfrm>
          <a:prstGeom prst="line">
            <a:avLst/>
          </a:prstGeom>
          <a:noFill/>
          <a:ln w="25400">
            <a:solidFill>
              <a:srgbClr val="B5D4E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576A1EC-2819-49A0-679F-695BC250DAFA}"/>
              </a:ext>
            </a:extLst>
          </p:cNvPr>
          <p:cNvSpPr/>
          <p:nvPr/>
        </p:nvSpPr>
        <p:spPr>
          <a:xfrm>
            <a:off x="5486400" y="3337560"/>
            <a:ext cx="1920240" cy="640080"/>
          </a:xfrm>
          <a:prstGeom prst="line">
            <a:avLst/>
          </a:prstGeom>
          <a:noFill/>
          <a:ln w="25400">
            <a:solidFill>
              <a:srgbClr val="B5D4ED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7201B68-F3E1-8499-EB0C-F7A29440F3F6}"/>
              </a:ext>
            </a:extLst>
          </p:cNvPr>
          <p:cNvSpPr/>
          <p:nvPr/>
        </p:nvSpPr>
        <p:spPr>
          <a:xfrm>
            <a:off x="1014984" y="3203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6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RGB image</a:t>
            </a:r>
            <a:endParaRPr lang="en-US" sz="21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11A0A8AD-F5C7-005E-2FFD-D07CFBD32821}"/>
              </a:ext>
            </a:extLst>
          </p:cNvPr>
          <p:cNvSpPr/>
          <p:nvPr/>
        </p:nvSpPr>
        <p:spPr>
          <a:xfrm>
            <a:off x="3886200" y="3186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A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backbone</a:t>
            </a:r>
            <a:endParaRPr lang="en-US" sz="21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C90C1B74-875C-0C61-7A27-C2D76DD68C1F}"/>
              </a:ext>
            </a:extLst>
          </p:cNvPr>
          <p:cNvSpPr/>
          <p:nvPr/>
        </p:nvSpPr>
        <p:spPr>
          <a:xfrm>
            <a:off x="75438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6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/ Fake</a:t>
            </a:r>
            <a:endParaRPr lang="en-US" sz="21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CB7AABF6-FE8D-6189-C232-CF3D2174D728}"/>
              </a:ext>
            </a:extLst>
          </p:cNvPr>
          <p:cNvSpPr/>
          <p:nvPr/>
        </p:nvSpPr>
        <p:spPr>
          <a:xfrm>
            <a:off x="754380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AA8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Transformation</a:t>
            </a:r>
            <a:endParaRPr lang="en-US" sz="21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A9B665AC-5BC6-CDE2-9002-15ACA14B874A}"/>
              </a:ext>
            </a:extLst>
          </p:cNvPr>
          <p:cNvSpPr/>
          <p:nvPr/>
        </p:nvSpPr>
        <p:spPr>
          <a:xfrm>
            <a:off x="7516368" y="26883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real vs AI-generated</a:t>
            </a:r>
            <a:endParaRPr lang="en-US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78C7C29A-CE55-122E-DC2E-69893C7C943F}"/>
              </a:ext>
            </a:extLst>
          </p:cNvPr>
          <p:cNvSpPr/>
          <p:nvPr/>
        </p:nvSpPr>
        <p:spPr>
          <a:xfrm>
            <a:off x="7584948" y="4375126"/>
            <a:ext cx="2103120" cy="22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original / transmitted / re-digitized</a:t>
            </a:r>
            <a:endParaRPr lang="en-US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EF974421-0C13-5089-3090-8EBDF7F66386}"/>
              </a:ext>
            </a:extLst>
          </p:cNvPr>
          <p:cNvSpPr/>
          <p:nvPr/>
        </p:nvSpPr>
        <p:spPr>
          <a:xfrm>
            <a:off x="777240" y="54162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turns the problem into a joint classification task: one image, two supervised outputs.</a:t>
            </a:r>
          </a:p>
        </p:txBody>
      </p:sp>
    </p:spTree>
    <p:extLst>
      <p:ext uri="{BB962C8B-B14F-4D97-AF65-F5344CB8AC3E}">
        <p14:creationId xmlns:p14="http://schemas.microsoft.com/office/powerpoint/2010/main" val="158606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6">
            <a:extLst>
              <a:ext uri="{FF2B5EF4-FFF2-40B4-BE49-F238E27FC236}">
                <a16:creationId xmlns:a16="http://schemas.microsoft.com/office/drawing/2014/main" id="{814808E0-38FE-5820-27CC-C773261B5336}"/>
              </a:ext>
            </a:extLst>
          </p:cNvPr>
          <p:cNvSpPr/>
          <p:nvPr/>
        </p:nvSpPr>
        <p:spPr>
          <a:xfrm>
            <a:off x="685800" y="3657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FB4"/>
                </a:solidFill>
              </a:rPr>
              <a:t>DATASET</a:t>
            </a:r>
            <a:endParaRPr lang="en-US" sz="1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690DFCE-784A-74BC-EF87-4A288C76BD21}"/>
              </a:ext>
            </a:extLst>
          </p:cNvPr>
          <p:cNvSpPr/>
          <p:nvPr/>
        </p:nvSpPr>
        <p:spPr>
          <a:xfrm>
            <a:off x="685800" y="6675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RRDataset: a real-world robustness benchmark</a:t>
            </a:r>
            <a:endParaRPr lang="en-US" sz="3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09FC822-E9DF-E1FC-E142-0180FF619BED}"/>
              </a:ext>
            </a:extLst>
          </p:cNvPr>
          <p:cNvSpPr/>
          <p:nvPr/>
        </p:nvSpPr>
        <p:spPr>
          <a:xfrm>
            <a:off x="685800" y="1380744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/>
              <a:t>The dataset exposes the gap between ideal benchmark evaluation and real-world image circulation.</a:t>
            </a:r>
          </a:p>
          <a:p>
            <a:r>
              <a:rPr lang="en-US" dirty="0"/>
              <a:t>It combines multiple visual scenarios with realistic post-processing conditions.</a:t>
            </a: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D99B9660-C90F-D8B8-EF4D-753F5015A836}"/>
              </a:ext>
            </a:extLst>
          </p:cNvPr>
          <p:cNvSpPr/>
          <p:nvPr/>
        </p:nvSpPr>
        <p:spPr>
          <a:xfrm>
            <a:off x="1142999" y="2825496"/>
            <a:ext cx="7607" cy="868680"/>
          </a:xfrm>
          <a:prstGeom prst="line">
            <a:avLst/>
          </a:prstGeom>
          <a:noFill/>
          <a:ln w="38100">
            <a:solidFill>
              <a:srgbClr val="0E5F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2D1C5B10-49D4-28B6-1E41-EE9BC9F262DE}"/>
              </a:ext>
            </a:extLst>
          </p:cNvPr>
          <p:cNvSpPr/>
          <p:nvPr/>
        </p:nvSpPr>
        <p:spPr>
          <a:xfrm>
            <a:off x="1344168" y="2788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Original</a:t>
            </a:r>
            <a:endParaRPr lang="en-US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F5436274-7BF8-64DF-6206-4EB52B148D72}"/>
              </a:ext>
            </a:extLst>
          </p:cNvPr>
          <p:cNvSpPr/>
          <p:nvPr/>
        </p:nvSpPr>
        <p:spPr>
          <a:xfrm>
            <a:off x="1344168" y="31805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Images closest to ideal benchmark conditions.</a:t>
            </a: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736C7E96-EA65-F29D-CB64-FB24DD27FAF8}"/>
              </a:ext>
            </a:extLst>
          </p:cNvPr>
          <p:cNvSpPr/>
          <p:nvPr/>
        </p:nvSpPr>
        <p:spPr>
          <a:xfrm>
            <a:off x="4023359" y="2825496"/>
            <a:ext cx="22835" cy="868680"/>
          </a:xfrm>
          <a:prstGeom prst="line">
            <a:avLst/>
          </a:prstGeom>
          <a:noFill/>
          <a:ln w="38100">
            <a:solidFill>
              <a:srgbClr val="3CC7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78FDCA58-6EC6-2D33-D051-9EBE3C73DFAB}"/>
              </a:ext>
            </a:extLst>
          </p:cNvPr>
          <p:cNvSpPr/>
          <p:nvPr/>
        </p:nvSpPr>
        <p:spPr>
          <a:xfrm>
            <a:off x="4224528" y="2788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Internet-transmitted</a:t>
            </a:r>
            <a:endParaRPr lang="en-US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5FD75F9F-81CC-7D55-A925-E951BF0FFBC6}"/>
              </a:ext>
            </a:extLst>
          </p:cNvPr>
          <p:cNvSpPr/>
          <p:nvPr/>
        </p:nvSpPr>
        <p:spPr>
          <a:xfrm>
            <a:off x="4224528" y="3246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Images affected by platform compression, resizing and social-media artifacts.</a:t>
            </a: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8F9014C7-9C7B-A409-2CE5-72A93868768F}"/>
              </a:ext>
            </a:extLst>
          </p:cNvPr>
          <p:cNvSpPr/>
          <p:nvPr/>
        </p:nvSpPr>
        <p:spPr>
          <a:xfrm>
            <a:off x="7680959" y="2825496"/>
            <a:ext cx="15227" cy="923544"/>
          </a:xfrm>
          <a:prstGeom prst="line">
            <a:avLst/>
          </a:prstGeom>
          <a:noFill/>
          <a:ln w="381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D6C989DB-4E1D-4A73-96FF-245FB579FA00}"/>
              </a:ext>
            </a:extLst>
          </p:cNvPr>
          <p:cNvSpPr/>
          <p:nvPr/>
        </p:nvSpPr>
        <p:spPr>
          <a:xfrm>
            <a:off x="7882128" y="2788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Re-digitized</a:t>
            </a:r>
            <a:endParaRPr lang="en-US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0B0DF244-F256-D61C-973F-7B94D59D5510}"/>
              </a:ext>
            </a:extLst>
          </p:cNvPr>
          <p:cNvSpPr/>
          <p:nvPr/>
        </p:nvSpPr>
        <p:spPr>
          <a:xfrm>
            <a:off x="7897356" y="3246120"/>
            <a:ext cx="3433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Images re-photographed, scanned, printed or displayed, introducing blur, color shifts and geometric distortions.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5346AD8-AF71-961D-4C03-8886C9CD639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6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A5ADD21-E9FA-BE29-ACCA-D818C17E24D1}"/>
              </a:ext>
            </a:extLst>
          </p:cNvPr>
          <p:cNvSpPr/>
          <p:nvPr/>
        </p:nvSpPr>
        <p:spPr>
          <a:xfrm>
            <a:off x="128016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66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50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A0673298-2D4B-4E5D-C8C9-5019C035DF47}"/>
              </a:ext>
            </a:extLst>
          </p:cNvPr>
          <p:cNvSpPr/>
          <p:nvPr/>
        </p:nvSpPr>
        <p:spPr>
          <a:xfrm>
            <a:off x="1280160" y="5367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real-world conditions</a:t>
            </a:r>
            <a:endParaRPr lang="en-US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A8A701F7-04F0-83F2-F9E1-C7D22993D5D7}"/>
              </a:ext>
            </a:extLst>
          </p:cNvPr>
          <p:cNvSpPr/>
          <p:nvPr/>
        </p:nvSpPr>
        <p:spPr>
          <a:xfrm>
            <a:off x="470916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2AA8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500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48F069FC-105F-6656-BD0D-4BBDC1622719}"/>
              </a:ext>
            </a:extLst>
          </p:cNvPr>
          <p:cNvSpPr/>
          <p:nvPr/>
        </p:nvSpPr>
        <p:spPr>
          <a:xfrm>
            <a:off x="4709160" y="5367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supervised labels</a:t>
            </a:r>
            <a:endParaRPr lang="en-US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CB3D29E4-93D1-EC60-73C7-11A507138AD8}"/>
              </a:ext>
            </a:extLst>
          </p:cNvPr>
          <p:cNvSpPr/>
          <p:nvPr/>
        </p:nvSpPr>
        <p:spPr>
          <a:xfrm>
            <a:off x="813816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55C7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500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92922F2A-CEF1-E368-4EAF-EFFABF90F70B}"/>
              </a:ext>
            </a:extLst>
          </p:cNvPr>
          <p:cNvSpPr/>
          <p:nvPr/>
        </p:nvSpPr>
        <p:spPr>
          <a:xfrm>
            <a:off x="8138160" y="5367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input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16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F23C-AE78-D30D-DC48-DB311C15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6">
            <a:extLst>
              <a:ext uri="{FF2B5EF4-FFF2-40B4-BE49-F238E27FC236}">
                <a16:creationId xmlns:a16="http://schemas.microsoft.com/office/drawing/2014/main" id="{3762B13B-A1D2-C74E-1F88-9711DAAC3637}"/>
              </a:ext>
            </a:extLst>
          </p:cNvPr>
          <p:cNvSpPr/>
          <p:nvPr/>
        </p:nvSpPr>
        <p:spPr>
          <a:xfrm>
            <a:off x="685800" y="3657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5FB4"/>
                </a:solidFill>
              </a:rPr>
              <a:t>SUBSET</a:t>
            </a:r>
            <a:endParaRPr lang="en-US" sz="11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882E9BE-6055-CDD5-1A14-3743BF597FA3}"/>
              </a:ext>
            </a:extLst>
          </p:cNvPr>
          <p:cNvSpPr/>
          <p:nvPr/>
        </p:nvSpPr>
        <p:spPr>
          <a:xfrm>
            <a:off x="685800" y="6675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Balanced Dataset</a:t>
            </a:r>
            <a:endParaRPr lang="en-US" sz="3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A848EDC-8ED6-93E1-AEB8-EECBF6EA051E}"/>
              </a:ext>
            </a:extLst>
          </p:cNvPr>
          <p:cNvSpPr/>
          <p:nvPr/>
        </p:nvSpPr>
        <p:spPr>
          <a:xfrm>
            <a:off x="685800" y="13213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The subset is intentionally balanced across the two supervised dimensions used by the model: authenticity and transformation.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96547B-21B9-BF8E-12EE-0E078E32F15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6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02A7B325-FE7A-1675-D7BF-429A2BFB5F9C}"/>
              </a:ext>
            </a:extLst>
          </p:cNvPr>
          <p:cNvSpPr/>
          <p:nvPr/>
        </p:nvSpPr>
        <p:spPr>
          <a:xfrm>
            <a:off x="82296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66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3,000</a:t>
            </a:r>
            <a:endParaRPr lang="en-US" sz="35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ABCBD29D-BEE0-8CF2-259F-17FA7AB89B8C}"/>
              </a:ext>
            </a:extLst>
          </p:cNvPr>
          <p:cNvSpPr/>
          <p:nvPr/>
        </p:nvSpPr>
        <p:spPr>
          <a:xfrm>
            <a:off x="82296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images total</a:t>
            </a:r>
            <a:endParaRPr lang="en-US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B3BF3E2-3D15-8AE3-5174-50CF42326B9D}"/>
              </a:ext>
            </a:extLst>
          </p:cNvPr>
          <p:cNvSpPr/>
          <p:nvPr/>
        </p:nvSpPr>
        <p:spPr>
          <a:xfrm>
            <a:off x="333756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55C7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50/50</a:t>
            </a:r>
            <a:endParaRPr lang="en-US" sz="35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77F28B9C-3DDC-4988-E794-6E71CA982FD0}"/>
              </a:ext>
            </a:extLst>
          </p:cNvPr>
          <p:cNvSpPr/>
          <p:nvPr/>
        </p:nvSpPr>
        <p:spPr>
          <a:xfrm>
            <a:off x="3337560" y="2898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real vs AI-generated</a:t>
            </a:r>
            <a:endParaRPr lang="en-US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A2AC8BE7-DF00-D031-354B-2AA8BB8B40F7}"/>
              </a:ext>
            </a:extLst>
          </p:cNvPr>
          <p:cNvSpPr/>
          <p:nvPr/>
        </p:nvSpPr>
        <p:spPr>
          <a:xfrm>
            <a:off x="598932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2AA8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1,000</a:t>
            </a:r>
            <a:endParaRPr lang="en-US" sz="35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EE3DFFA-E2A9-1B37-55B6-F0098AEE150A}"/>
              </a:ext>
            </a:extLst>
          </p:cNvPr>
          <p:cNvSpPr/>
          <p:nvPr/>
        </p:nvSpPr>
        <p:spPr>
          <a:xfrm>
            <a:off x="5989320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images per transform</a:t>
            </a:r>
            <a:endParaRPr lang="en-US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E8077F3-651D-04C2-5B75-FA019BA11F56}"/>
              </a:ext>
            </a:extLst>
          </p:cNvPr>
          <p:cNvSpPr/>
          <p:nvPr/>
        </p:nvSpPr>
        <p:spPr>
          <a:xfrm>
            <a:off x="873252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4A2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450</a:t>
            </a:r>
            <a:endParaRPr lang="en-US" sz="35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748BF09-5F7D-693F-1D7B-9D9B5BC721DF}"/>
              </a:ext>
            </a:extLst>
          </p:cNvPr>
          <p:cNvSpPr/>
          <p:nvPr/>
        </p:nvSpPr>
        <p:spPr>
          <a:xfrm>
            <a:off x="873252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test images</a:t>
            </a:r>
            <a:endParaRPr lang="en-US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A07DF9CA-8299-1C84-B49D-7F14606711EE}"/>
              </a:ext>
            </a:extLst>
          </p:cNvPr>
          <p:cNvSpPr/>
          <p:nvPr/>
        </p:nvSpPr>
        <p:spPr>
          <a:xfrm>
            <a:off x="914400" y="4907280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E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Train: 2100 images  ·  Validation: 450 images  ·  Test: 450 images</a:t>
            </a:r>
            <a:endParaRPr lang="en-US" sz="22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93A9825E-5362-7DF7-8CBD-0A6D29334E45}"/>
              </a:ext>
            </a:extLst>
          </p:cNvPr>
          <p:cNvSpPr/>
          <p:nvPr/>
        </p:nvSpPr>
        <p:spPr>
          <a:xfrm>
            <a:off x="914400" y="54284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Every split preserves both balances: real/fake and original/transmitted/re-digitized.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2B6751-F615-26F0-BC06-F24FC48DCFB6}"/>
              </a:ext>
            </a:extLst>
          </p:cNvPr>
          <p:cNvSpPr txBox="1"/>
          <p:nvPr/>
        </p:nvSpPr>
        <p:spPr>
          <a:xfrm>
            <a:off x="1143000" y="3909060"/>
            <a:ext cx="932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noProof="0" dirty="0"/>
              <a:t>AI categories were distributed as evenly as possible when category information was available.</a:t>
            </a:r>
          </a:p>
        </p:txBody>
      </p:sp>
    </p:spTree>
    <p:extLst>
      <p:ext uri="{BB962C8B-B14F-4D97-AF65-F5344CB8AC3E}">
        <p14:creationId xmlns:p14="http://schemas.microsoft.com/office/powerpoint/2010/main" val="1330614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396240"/>
            <a:ext cx="2286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1B67CA"/>
                </a:solidFill>
                <a:latin typeface="Aptos"/>
              </a:rP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6761"/>
            <a:ext cx="91440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102033"/>
                </a:solidFill>
                <a:latin typeface="Aptos Display" pitchFamily="34" charset="0"/>
              </a:rPr>
              <a:t>From image folders to </a:t>
            </a:r>
            <a:r>
              <a:rPr sz="2833" b="1" dirty="0">
                <a:solidFill>
                  <a:srgbClr val="0A2240"/>
                </a:solidFill>
                <a:latin typeface="Aptos"/>
              </a:rPr>
              <a:t>RGB tensors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10249"/>
            <a:ext cx="2438400" cy="1409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Oval 6"/>
          <p:cNvSpPr/>
          <p:nvPr/>
        </p:nvSpPr>
        <p:spPr>
          <a:xfrm>
            <a:off x="853440" y="2262649"/>
            <a:ext cx="320040" cy="320040"/>
          </a:xfrm>
          <a:prstGeom prst="ellipse">
            <a:avLst/>
          </a:prstGeom>
          <a:solidFill>
            <a:srgbClr val="1B6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300748"/>
            <a:ext cx="1676400" cy="256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67" b="1" dirty="0">
                <a:solidFill>
                  <a:srgbClr val="0A2240"/>
                </a:solidFill>
                <a:latin typeface="Aptos"/>
              </a:rPr>
              <a:t>Image folders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430" y="2681987"/>
            <a:ext cx="22631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it-IT" sz="1600" dirty="0" err="1">
                <a:latin typeface="Aptos"/>
              </a:rPr>
              <a:t>original</a:t>
            </a:r>
            <a:r>
              <a:rPr lang="it-IT" sz="1600" dirty="0">
                <a:latin typeface="Aptos"/>
              </a:rPr>
              <a:t> / transfer / </a:t>
            </a:r>
            <a:r>
              <a:rPr lang="it-IT" sz="1600" dirty="0" err="1">
                <a:latin typeface="Aptos"/>
              </a:rPr>
              <a:t>redigital</a:t>
            </a:r>
            <a:br>
              <a:rPr lang="it-IT" sz="1600" dirty="0">
                <a:latin typeface="Aptos"/>
              </a:rPr>
            </a:br>
            <a:r>
              <a:rPr lang="it-IT" sz="1600" dirty="0" err="1">
                <a:latin typeface="Aptos"/>
              </a:rPr>
              <a:t>real</a:t>
            </a:r>
            <a:r>
              <a:rPr lang="it-IT" sz="1600" dirty="0">
                <a:latin typeface="Aptos"/>
              </a:rPr>
              <a:t> / AI-</a:t>
            </a:r>
            <a:r>
              <a:rPr lang="it-IT" sz="1600" dirty="0" err="1">
                <a:latin typeface="Aptos"/>
              </a:rPr>
              <a:t>generated</a:t>
            </a:r>
            <a:endParaRPr lang="it-IT" sz="1600" dirty="0"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67100" y="2110249"/>
            <a:ext cx="2438400" cy="1409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" name="Oval 10"/>
          <p:cNvSpPr/>
          <p:nvPr/>
        </p:nvSpPr>
        <p:spPr>
          <a:xfrm>
            <a:off x="3634740" y="2262649"/>
            <a:ext cx="320040" cy="320040"/>
          </a:xfrm>
          <a:prstGeom prst="ellipse">
            <a:avLst/>
          </a:prstGeom>
          <a:solidFill>
            <a:srgbClr val="27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1460" y="2289319"/>
            <a:ext cx="1676400" cy="256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67" b="1" dirty="0">
                <a:solidFill>
                  <a:srgbClr val="0A2240"/>
                </a:solidFill>
                <a:latin typeface="Aptos"/>
              </a:rPr>
              <a:t>CSV splits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1467" y="2620789"/>
            <a:ext cx="196596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it-IT" sz="1600" dirty="0" err="1">
                <a:latin typeface="Aptos"/>
              </a:rPr>
              <a:t>image_path</a:t>
            </a:r>
            <a:endParaRPr lang="it-IT" sz="1600" dirty="0">
              <a:latin typeface="Aptos"/>
            </a:endParaRPr>
          </a:p>
          <a:p>
            <a:pPr algn="ctr"/>
            <a:r>
              <a:rPr lang="it-IT" sz="1600" dirty="0" err="1">
                <a:latin typeface="Aptos"/>
              </a:rPr>
              <a:t>fake_label</a:t>
            </a:r>
            <a:endParaRPr lang="it-IT" sz="1600" dirty="0">
              <a:latin typeface="Aptos"/>
            </a:endParaRPr>
          </a:p>
          <a:p>
            <a:pPr algn="ctr"/>
            <a:r>
              <a:rPr lang="it-IT" sz="1600" dirty="0" err="1">
                <a:latin typeface="Aptos"/>
              </a:rPr>
              <a:t>transform_label</a:t>
            </a:r>
            <a:endParaRPr lang="it-IT" sz="1600" dirty="0"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48399" y="2110249"/>
            <a:ext cx="2438400" cy="1409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Oval 14"/>
          <p:cNvSpPr/>
          <p:nvPr/>
        </p:nvSpPr>
        <p:spPr>
          <a:xfrm>
            <a:off x="6416040" y="2262649"/>
            <a:ext cx="320040" cy="320040"/>
          </a:xfrm>
          <a:prstGeom prst="ellipse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2759" y="2289319"/>
            <a:ext cx="1676400" cy="256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67" b="1" dirty="0">
                <a:solidFill>
                  <a:srgbClr val="0A2240"/>
                </a:solidFill>
                <a:latin typeface="Aptos"/>
              </a:rPr>
              <a:t>Dataset loader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619" y="2721196"/>
            <a:ext cx="19659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>
                <a:latin typeface="Aptos"/>
              </a:rPr>
              <a:t>loads each file
as an RGB tensor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700" y="2110249"/>
            <a:ext cx="2438400" cy="1409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9" name="Oval 18"/>
          <p:cNvSpPr/>
          <p:nvPr/>
        </p:nvSpPr>
        <p:spPr>
          <a:xfrm>
            <a:off x="9197340" y="2262649"/>
            <a:ext cx="320040" cy="32004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4587" y="2294458"/>
            <a:ext cx="1844040" cy="256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67" b="1" dirty="0" err="1">
                <a:solidFill>
                  <a:srgbClr val="0A2240"/>
                </a:solidFill>
                <a:latin typeface="Aptos"/>
              </a:rPr>
              <a:t>DataLoader</a:t>
            </a:r>
            <a:r>
              <a:rPr sz="1667" b="1" dirty="0">
                <a:solidFill>
                  <a:srgbClr val="0A2240"/>
                </a:solidFill>
                <a:latin typeface="Aptos"/>
              </a:rPr>
              <a:t> batch</a:t>
            </a: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D1CA9B0B-78BD-3FEC-C0C6-E60A193EC7B7}"/>
              </a:ext>
            </a:extLst>
          </p:cNvPr>
          <p:cNvSpPr/>
          <p:nvPr/>
        </p:nvSpPr>
        <p:spPr>
          <a:xfrm>
            <a:off x="9406890" y="2815099"/>
            <a:ext cx="16840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image tensor</a:t>
            </a:r>
            <a:endParaRPr lang="en-US" sz="1600" dirty="0"/>
          </a:p>
          <a:p>
            <a:pPr algn="ctr"/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fake label</a:t>
            </a:r>
            <a:endParaRPr lang="en-US" sz="1600" dirty="0"/>
          </a:p>
          <a:p>
            <a:pPr algn="ctr"/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transform label</a:t>
            </a:r>
            <a:endParaRPr lang="en-US" sz="16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56080286-B823-47A4-A65F-E366BAA9D5FD}"/>
              </a:ext>
            </a:extLst>
          </p:cNvPr>
          <p:cNvSpPr/>
          <p:nvPr/>
        </p:nvSpPr>
        <p:spPr>
          <a:xfrm>
            <a:off x="3124200" y="2780809"/>
            <a:ext cx="342900" cy="0"/>
          </a:xfrm>
          <a:prstGeom prst="line">
            <a:avLst/>
          </a:prstGeom>
          <a:noFill/>
          <a:ln w="22860">
            <a:solidFill>
              <a:srgbClr val="A8CDED"/>
            </a:solidFill>
            <a:prstDash val="solid"/>
            <a:tailEnd type="triangle"/>
          </a:ln>
        </p:spPr>
        <p:txBody>
          <a:bodyPr/>
          <a:lstStyle/>
          <a:p>
            <a:endParaRPr lang="it-IT" sz="150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8C180757-D6A9-D2A9-CA6E-21D15D4B6724}"/>
              </a:ext>
            </a:extLst>
          </p:cNvPr>
          <p:cNvSpPr/>
          <p:nvPr/>
        </p:nvSpPr>
        <p:spPr>
          <a:xfrm>
            <a:off x="5905499" y="2780809"/>
            <a:ext cx="342900" cy="0"/>
          </a:xfrm>
          <a:prstGeom prst="line">
            <a:avLst/>
          </a:prstGeom>
          <a:noFill/>
          <a:ln w="22860">
            <a:solidFill>
              <a:srgbClr val="A8CDED"/>
            </a:solidFill>
            <a:prstDash val="solid"/>
            <a:tailEnd type="triangle"/>
          </a:ln>
        </p:spPr>
        <p:txBody>
          <a:bodyPr/>
          <a:lstStyle/>
          <a:p>
            <a:endParaRPr lang="it-IT" sz="150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6721F2F1-E468-67DF-4C6C-050C51B3D268}"/>
              </a:ext>
            </a:extLst>
          </p:cNvPr>
          <p:cNvSpPr/>
          <p:nvPr/>
        </p:nvSpPr>
        <p:spPr>
          <a:xfrm>
            <a:off x="8686800" y="2782502"/>
            <a:ext cx="342900" cy="0"/>
          </a:xfrm>
          <a:prstGeom prst="line">
            <a:avLst/>
          </a:prstGeom>
          <a:noFill/>
          <a:ln w="22860">
            <a:solidFill>
              <a:srgbClr val="A8CDED"/>
            </a:solidFill>
            <a:prstDash val="solid"/>
            <a:tailEnd type="triangle"/>
          </a:ln>
        </p:spPr>
        <p:txBody>
          <a:bodyPr/>
          <a:lstStyle/>
          <a:p>
            <a:endParaRPr lang="it-IT" sz="150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32E7AE4C-48D5-3679-B492-C512F734779A}"/>
              </a:ext>
            </a:extLst>
          </p:cNvPr>
          <p:cNvSpPr/>
          <p:nvPr/>
        </p:nvSpPr>
        <p:spPr>
          <a:xfrm>
            <a:off x="723899" y="123777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The dataset loader maps each CSV row to one normalized RGB tensor and two supervised labels.</a:t>
            </a:r>
            <a:endParaRPr lang="en-US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C625151E-9C08-F9C0-3574-2B7F85A45CF9}"/>
              </a:ext>
            </a:extLst>
          </p:cNvPr>
          <p:cNvSpPr/>
          <p:nvPr/>
        </p:nvSpPr>
        <p:spPr>
          <a:xfrm>
            <a:off x="841248" y="4220889"/>
            <a:ext cx="0" cy="841248"/>
          </a:xfrm>
          <a:prstGeom prst="line">
            <a:avLst/>
          </a:prstGeom>
          <a:noFill/>
          <a:ln w="38100">
            <a:solidFill>
              <a:srgbClr val="2AA87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749749B0-1CE8-B942-B20F-3D0B99B2EF64}"/>
              </a:ext>
            </a:extLst>
          </p:cNvPr>
          <p:cNvSpPr/>
          <p:nvPr/>
        </p:nvSpPr>
        <p:spPr>
          <a:xfrm>
            <a:off x="1060704" y="4166025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D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transform</a:t>
            </a:r>
            <a:endParaRPr lang="en-US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498F799E-096F-68EC-5916-547BF7A1A9DE}"/>
              </a:ext>
            </a:extLst>
          </p:cNvPr>
          <p:cNvSpPr/>
          <p:nvPr/>
        </p:nvSpPr>
        <p:spPr>
          <a:xfrm>
            <a:off x="1060704" y="4568361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Resize 224x224 + random horizontal flip + tensor conversion + ImageNet normalization.</a:t>
            </a:r>
            <a:endParaRPr lang="en-US" dirty="0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AEA7ED43-83A4-BCF5-2925-0F84627DAF91}"/>
              </a:ext>
            </a:extLst>
          </p:cNvPr>
          <p:cNvSpPr/>
          <p:nvPr/>
        </p:nvSpPr>
        <p:spPr>
          <a:xfrm>
            <a:off x="6355080" y="4220889"/>
            <a:ext cx="0" cy="841248"/>
          </a:xfrm>
          <a:prstGeom prst="line">
            <a:avLst/>
          </a:prstGeom>
          <a:noFill/>
          <a:ln w="38100">
            <a:solidFill>
              <a:srgbClr val="F39B1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E1C99798-3785-49D3-D846-FCE4D1D16FBD}"/>
              </a:ext>
            </a:extLst>
          </p:cNvPr>
          <p:cNvSpPr/>
          <p:nvPr/>
        </p:nvSpPr>
        <p:spPr>
          <a:xfrm>
            <a:off x="6574536" y="4166025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D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transform</a:t>
            </a:r>
            <a:endParaRPr lang="en-US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E45A8ACA-FA27-6BA9-7B60-89E36CBCAFC0}"/>
              </a:ext>
            </a:extLst>
          </p:cNvPr>
          <p:cNvSpPr/>
          <p:nvPr/>
        </p:nvSpPr>
        <p:spPr>
          <a:xfrm>
            <a:off x="1572768" y="587959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loader supports fake-only, transform-only and multi-task experiments.</a:t>
            </a:r>
            <a:endParaRPr lang="en-US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DC71C3A7-8354-82B8-E4C1-F0B287A4D04F}"/>
              </a:ext>
            </a:extLst>
          </p:cNvPr>
          <p:cNvSpPr/>
          <p:nvPr/>
        </p:nvSpPr>
        <p:spPr>
          <a:xfrm>
            <a:off x="6574535" y="4568361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Resize 224x224 + tensor conversion + ImageNet normalization.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DF75CDA-D839-9CCD-1002-DA989106C05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6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6D6A-C135-3002-C36F-BFDBE0EE3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832" y="4080933"/>
            <a:ext cx="6852129" cy="1080850"/>
          </a:xfrm>
        </p:spPr>
        <p:txBody>
          <a:bodyPr/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RGB Baseline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3EFA4-25F3-9780-AB7A-487F437E7F62}"/>
              </a:ext>
            </a:extLst>
          </p:cNvPr>
          <p:cNvSpPr txBox="1"/>
          <p:nvPr/>
        </p:nvSpPr>
        <p:spPr>
          <a:xfrm>
            <a:off x="1121833" y="5161783"/>
            <a:ext cx="7886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</a:rPr>
              <a:t>Architecture · Single-task baselines · Multi-task </a:t>
            </a:r>
            <a:r>
              <a:rPr lang="it-IT" sz="2400" dirty="0" err="1">
                <a:solidFill>
                  <a:schemeClr val="bg1"/>
                </a:solidFill>
              </a:rPr>
              <a:t>ablation</a:t>
            </a:r>
            <a:endParaRPr lang="it-IT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331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A882-2B19-7612-05DA-F44429D7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6">
            <a:extLst>
              <a:ext uri="{FF2B5EF4-FFF2-40B4-BE49-F238E27FC236}">
                <a16:creationId xmlns:a16="http://schemas.microsoft.com/office/drawing/2014/main" id="{45B83FFA-BB76-B18D-2733-7A1A00163F6D}"/>
              </a:ext>
            </a:extLst>
          </p:cNvPr>
          <p:cNvSpPr/>
          <p:nvPr/>
        </p:nvSpPr>
        <p:spPr>
          <a:xfrm>
            <a:off x="685800" y="3657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5FB4"/>
                </a:solidFill>
              </a:rPr>
              <a:t>RGB </a:t>
            </a:r>
            <a:r>
              <a:rPr lang="en-US" sz="1100" b="1" dirty="0">
                <a:solidFill>
                  <a:srgbClr val="0E5FB4"/>
                </a:solidFill>
              </a:rPr>
              <a:t>BASELINE</a:t>
            </a:r>
            <a:endParaRPr lang="en-US" sz="10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EE8A612-5743-F012-0FC9-54FA2559096A}"/>
              </a:ext>
            </a:extLst>
          </p:cNvPr>
          <p:cNvSpPr/>
          <p:nvPr/>
        </p:nvSpPr>
        <p:spPr>
          <a:xfrm>
            <a:off x="685800" y="6675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RGB Baseline Architecture</a:t>
            </a:r>
            <a:endParaRPr lang="en-US" sz="3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B001326-A433-8119-8AFC-353D18BB1D98}"/>
              </a:ext>
            </a:extLst>
          </p:cNvPr>
          <p:cNvSpPr/>
          <p:nvPr/>
        </p:nvSpPr>
        <p:spPr>
          <a:xfrm>
            <a:off x="685800" y="1439840"/>
            <a:ext cx="10536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5000"/>
              </a:lnSpc>
            </a:pPr>
            <a:r>
              <a:rPr lang="en-US" dirty="0"/>
              <a:t>A pretrained ResNet18 extracts a shared RGB representation; two task-specific heads predict authenticity and transformation.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970712-673F-EA36-1D5E-6EB40FFF790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Rounded Rectangle 8">
            <a:extLst>
              <a:ext uri="{FF2B5EF4-FFF2-40B4-BE49-F238E27FC236}">
                <a16:creationId xmlns:a16="http://schemas.microsoft.com/office/drawing/2014/main" id="{079DC4D7-8784-2A77-A9A5-7EEF2D028235}"/>
              </a:ext>
            </a:extLst>
          </p:cNvPr>
          <p:cNvSpPr/>
          <p:nvPr/>
        </p:nvSpPr>
        <p:spPr>
          <a:xfrm>
            <a:off x="672084" y="2547700"/>
            <a:ext cx="2971800" cy="2697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E493E8-A05C-5504-2CDA-737A460F6786}"/>
              </a:ext>
            </a:extLst>
          </p:cNvPr>
          <p:cNvSpPr txBox="1"/>
          <p:nvPr/>
        </p:nvSpPr>
        <p:spPr>
          <a:xfrm>
            <a:off x="937260" y="2794588"/>
            <a:ext cx="2450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chemeClr val="accent2"/>
                </a:solidFill>
                <a:latin typeface="Aptos"/>
              </a:rPr>
              <a:t>RGB </a:t>
            </a:r>
            <a:r>
              <a:rPr lang="it-IT" sz="2000" b="1" dirty="0">
                <a:solidFill>
                  <a:schemeClr val="accent2"/>
                </a:solidFill>
                <a:latin typeface="Aptos"/>
              </a:rPr>
              <a:t>image </a:t>
            </a:r>
            <a:r>
              <a:rPr sz="2000" b="1" dirty="0">
                <a:solidFill>
                  <a:schemeClr val="accent2"/>
                </a:solidFill>
                <a:latin typeface="Aptos"/>
              </a:rPr>
              <a:t>input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5B080-4EF5-6CAD-3735-484494748363}"/>
              </a:ext>
            </a:extLst>
          </p:cNvPr>
          <p:cNvSpPr txBox="1"/>
          <p:nvPr/>
        </p:nvSpPr>
        <p:spPr>
          <a:xfrm>
            <a:off x="964692" y="33980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91F38"/>
                </a:solidFill>
                <a:latin typeface="Aptos"/>
              </a:rPr>
              <a:t>3 × 224 × 224 tensor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618F7B-9AF5-D46D-5F4C-9FF59B344442}"/>
              </a:ext>
            </a:extLst>
          </p:cNvPr>
          <p:cNvSpPr txBox="1"/>
          <p:nvPr/>
        </p:nvSpPr>
        <p:spPr>
          <a:xfrm>
            <a:off x="873252" y="4056460"/>
            <a:ext cx="256032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dirty="0">
                <a:solidFill>
                  <a:srgbClr val="5B7089"/>
                </a:solidFill>
                <a:latin typeface="Aptos"/>
              </a:rPr>
              <a:t>The model observes pixel-level RGB evidence: content, texture, color and local artifacts.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F4742BFF-1A98-F9EC-7DED-A493A53B8080}"/>
              </a:ext>
            </a:extLst>
          </p:cNvPr>
          <p:cNvSpPr/>
          <p:nvPr/>
        </p:nvSpPr>
        <p:spPr>
          <a:xfrm>
            <a:off x="4091450" y="2547700"/>
            <a:ext cx="2971800" cy="2697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DB3DA1-CA83-5B9E-1F0F-18380CFADA14}"/>
              </a:ext>
            </a:extLst>
          </p:cNvPr>
          <p:cNvSpPr txBox="1"/>
          <p:nvPr/>
        </p:nvSpPr>
        <p:spPr>
          <a:xfrm>
            <a:off x="4356626" y="2794588"/>
            <a:ext cx="24505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7030A0"/>
                </a:solidFill>
                <a:latin typeface="Aptos"/>
              </a:rPr>
              <a:t>Pretrained ResNet18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F645FE-1402-5E29-287C-8BBBD5FDC8CD}"/>
              </a:ext>
            </a:extLst>
          </p:cNvPr>
          <p:cNvSpPr txBox="1"/>
          <p:nvPr/>
        </p:nvSpPr>
        <p:spPr>
          <a:xfrm>
            <a:off x="4393202" y="34163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dirty="0">
                <a:latin typeface="Aptos"/>
              </a:rPr>
              <a:t>ImageNet</a:t>
            </a:r>
            <a:r>
              <a:rPr sz="1800" b="1" dirty="0">
                <a:solidFill>
                  <a:srgbClr val="1565C0"/>
                </a:solidFill>
                <a:latin typeface="Aptos"/>
              </a:rPr>
              <a:t> </a:t>
            </a:r>
            <a:r>
              <a:rPr sz="1800" b="1" dirty="0">
                <a:latin typeface="Aptos"/>
              </a:rPr>
              <a:t>initialization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FAD71C-3CC4-ACBD-3CD2-EDC7511CEEF1}"/>
              </a:ext>
            </a:extLst>
          </p:cNvPr>
          <p:cNvSpPr txBox="1"/>
          <p:nvPr/>
        </p:nvSpPr>
        <p:spPr>
          <a:xfrm>
            <a:off x="4301762" y="4029028"/>
            <a:ext cx="25786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5B7089"/>
                </a:solidFill>
                <a:latin typeface="Aptos"/>
              </a:rPr>
              <a:t>The original ImageNet classifier is removed and replaced by our task-specific heads.</a:t>
            </a:r>
          </a:p>
        </p:txBody>
      </p:sp>
      <p:sp>
        <p:nvSpPr>
          <p:cNvPr id="52" name="Rounded Rectangle 16">
            <a:extLst>
              <a:ext uri="{FF2B5EF4-FFF2-40B4-BE49-F238E27FC236}">
                <a16:creationId xmlns:a16="http://schemas.microsoft.com/office/drawing/2014/main" id="{08A9F128-7BCE-8CD7-1D00-CE06FFD45133}"/>
              </a:ext>
            </a:extLst>
          </p:cNvPr>
          <p:cNvSpPr/>
          <p:nvPr/>
        </p:nvSpPr>
        <p:spPr>
          <a:xfrm>
            <a:off x="7501700" y="2547700"/>
            <a:ext cx="2057400" cy="2697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C03276-DE09-51E2-07D3-9856D75718DC}"/>
              </a:ext>
            </a:extLst>
          </p:cNvPr>
          <p:cNvSpPr txBox="1"/>
          <p:nvPr/>
        </p:nvSpPr>
        <p:spPr>
          <a:xfrm>
            <a:off x="7821740" y="2954715"/>
            <a:ext cx="1444752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002060"/>
                </a:solidFill>
                <a:latin typeface="Aptos"/>
              </a:rPr>
              <a:t>S</a:t>
            </a:r>
            <a:r>
              <a:rPr sz="2000" b="1" dirty="0">
                <a:solidFill>
                  <a:srgbClr val="002060"/>
                </a:solidFill>
                <a:latin typeface="Aptos"/>
              </a:rPr>
              <a:t>hared feature</a:t>
            </a:r>
            <a:br>
              <a:rPr sz="2000" dirty="0">
                <a:solidFill>
                  <a:srgbClr val="002060"/>
                </a:solidFill>
              </a:rPr>
            </a:br>
            <a:r>
              <a:rPr sz="2000" b="1" dirty="0">
                <a:solidFill>
                  <a:srgbClr val="002060"/>
                </a:solidFill>
                <a:latin typeface="Aptos"/>
              </a:rPr>
              <a:t>vector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1B79BD-D74B-2FA5-B82F-09C6528AD491}"/>
              </a:ext>
            </a:extLst>
          </p:cNvPr>
          <p:cNvSpPr txBox="1"/>
          <p:nvPr/>
        </p:nvSpPr>
        <p:spPr>
          <a:xfrm>
            <a:off x="7789736" y="406399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dirty="0">
                <a:solidFill>
                  <a:srgbClr val="5B7089"/>
                </a:solidFill>
                <a:latin typeface="Aptos"/>
              </a:rPr>
              <a:t>used by both heads</a:t>
            </a:r>
          </a:p>
        </p:txBody>
      </p:sp>
      <p:sp>
        <p:nvSpPr>
          <p:cNvPr id="58" name="Rounded Rectangle 22">
            <a:extLst>
              <a:ext uri="{FF2B5EF4-FFF2-40B4-BE49-F238E27FC236}">
                <a16:creationId xmlns:a16="http://schemas.microsoft.com/office/drawing/2014/main" id="{9DA54D33-AF94-8333-5EBA-6868D2593C80}"/>
              </a:ext>
            </a:extLst>
          </p:cNvPr>
          <p:cNvSpPr/>
          <p:nvPr/>
        </p:nvSpPr>
        <p:spPr>
          <a:xfrm>
            <a:off x="9997550" y="2547700"/>
            <a:ext cx="1225296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B2AD41-D5E5-C678-EF0D-513F69EB14F2}"/>
              </a:ext>
            </a:extLst>
          </p:cNvPr>
          <p:cNvSpPr txBox="1"/>
          <p:nvPr/>
        </p:nvSpPr>
        <p:spPr>
          <a:xfrm>
            <a:off x="10108852" y="2730581"/>
            <a:ext cx="10058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dirty="0">
                <a:solidFill>
                  <a:srgbClr val="1565C0"/>
                </a:solidFill>
                <a:latin typeface="Aptos"/>
              </a:rPr>
              <a:t>fake</a:t>
            </a:r>
            <a:br>
              <a:rPr dirty="0">
                <a:solidFill>
                  <a:srgbClr val="002060"/>
                </a:solidFill>
              </a:rPr>
            </a:br>
            <a:r>
              <a:rPr b="1" dirty="0">
                <a:solidFill>
                  <a:srgbClr val="1565C0"/>
                </a:solidFill>
                <a:latin typeface="Aptos"/>
              </a:rPr>
              <a:t>head</a:t>
            </a:r>
            <a:endParaRPr sz="3100" b="1" dirty="0">
              <a:solidFill>
                <a:srgbClr val="1565C0"/>
              </a:solidFill>
              <a:latin typeface="Aptos"/>
            </a:endParaRP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D875E40B-C76E-9C89-FB9F-8C66319E28F3}"/>
              </a:ext>
            </a:extLst>
          </p:cNvPr>
          <p:cNvSpPr/>
          <p:nvPr/>
        </p:nvSpPr>
        <p:spPr>
          <a:xfrm>
            <a:off x="10002012" y="4356600"/>
            <a:ext cx="1225296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DBD279-30D3-5E1E-4370-15B9E523FE56}"/>
              </a:ext>
            </a:extLst>
          </p:cNvPr>
          <p:cNvSpPr txBox="1"/>
          <p:nvPr/>
        </p:nvSpPr>
        <p:spPr>
          <a:xfrm>
            <a:off x="9996860" y="4562519"/>
            <a:ext cx="12252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dirty="0">
                <a:solidFill>
                  <a:srgbClr val="2CA972"/>
                </a:solidFill>
                <a:latin typeface="Aptos"/>
              </a:rPr>
              <a:t>transform</a:t>
            </a:r>
            <a:br>
              <a:rPr b="1" dirty="0">
                <a:solidFill>
                  <a:srgbClr val="2CA972"/>
                </a:solidFill>
                <a:latin typeface="Aptos"/>
              </a:rPr>
            </a:br>
            <a:r>
              <a:rPr b="1" dirty="0">
                <a:solidFill>
                  <a:srgbClr val="2CA972"/>
                </a:solidFill>
                <a:latin typeface="Aptos"/>
              </a:rPr>
              <a:t>head</a:t>
            </a:r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EDDB121D-9FE5-54EF-55A4-5FE380419EB3}"/>
              </a:ext>
            </a:extLst>
          </p:cNvPr>
          <p:cNvSpPr/>
          <p:nvPr/>
        </p:nvSpPr>
        <p:spPr>
          <a:xfrm flipV="1">
            <a:off x="3643884" y="3890433"/>
            <a:ext cx="447566" cy="0"/>
          </a:xfrm>
          <a:prstGeom prst="line">
            <a:avLst/>
          </a:prstGeom>
          <a:noFill/>
          <a:ln w="22860">
            <a:solidFill>
              <a:srgbClr val="A8CDED"/>
            </a:solidFill>
            <a:prstDash val="solid"/>
            <a:tailEnd type="triangle"/>
          </a:ln>
        </p:spPr>
        <p:txBody>
          <a:bodyPr/>
          <a:lstStyle/>
          <a:p>
            <a:endParaRPr lang="it-IT" sz="150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6D5B566F-E827-840D-DCFB-97E7A4B22D61}"/>
              </a:ext>
            </a:extLst>
          </p:cNvPr>
          <p:cNvSpPr/>
          <p:nvPr/>
        </p:nvSpPr>
        <p:spPr>
          <a:xfrm flipV="1">
            <a:off x="7063250" y="3868313"/>
            <a:ext cx="447566" cy="0"/>
          </a:xfrm>
          <a:prstGeom prst="line">
            <a:avLst/>
          </a:prstGeom>
          <a:noFill/>
          <a:ln w="22860">
            <a:solidFill>
              <a:srgbClr val="A8CDED"/>
            </a:solidFill>
            <a:prstDash val="solid"/>
            <a:tailEnd type="triangle"/>
          </a:ln>
        </p:spPr>
        <p:txBody>
          <a:bodyPr/>
          <a:lstStyle/>
          <a:p>
            <a:endParaRPr lang="it-IT" sz="150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60E46F9E-4FC0-628C-3188-3BC061EAB578}"/>
              </a:ext>
            </a:extLst>
          </p:cNvPr>
          <p:cNvSpPr/>
          <p:nvPr/>
        </p:nvSpPr>
        <p:spPr>
          <a:xfrm>
            <a:off x="9549984" y="4508393"/>
            <a:ext cx="446876" cy="271926"/>
          </a:xfrm>
          <a:prstGeom prst="line">
            <a:avLst/>
          </a:prstGeom>
          <a:noFill/>
          <a:ln w="22860">
            <a:solidFill>
              <a:srgbClr val="A8CDED"/>
            </a:solidFill>
            <a:prstDash val="solid"/>
            <a:tailEnd type="triangle"/>
          </a:ln>
        </p:spPr>
        <p:txBody>
          <a:bodyPr/>
          <a:lstStyle/>
          <a:p>
            <a:endParaRPr lang="it-IT" sz="1500"/>
          </a:p>
        </p:txBody>
      </p:sp>
      <p:sp>
        <p:nvSpPr>
          <p:cNvPr id="76" name="Shape 6">
            <a:extLst>
              <a:ext uri="{FF2B5EF4-FFF2-40B4-BE49-F238E27FC236}">
                <a16:creationId xmlns:a16="http://schemas.microsoft.com/office/drawing/2014/main" id="{5F7DB3FF-B004-338D-E326-39DC31806D71}"/>
              </a:ext>
            </a:extLst>
          </p:cNvPr>
          <p:cNvSpPr/>
          <p:nvPr/>
        </p:nvSpPr>
        <p:spPr>
          <a:xfrm flipV="1">
            <a:off x="9549984" y="2959268"/>
            <a:ext cx="447566" cy="271926"/>
          </a:xfrm>
          <a:prstGeom prst="line">
            <a:avLst/>
          </a:prstGeom>
          <a:noFill/>
          <a:ln w="22860">
            <a:solidFill>
              <a:srgbClr val="A8CDED"/>
            </a:solidFill>
            <a:prstDash val="solid"/>
            <a:tailEnd type="triangle"/>
          </a:ln>
        </p:spPr>
        <p:txBody>
          <a:bodyPr/>
          <a:lstStyle/>
          <a:p>
            <a:endParaRPr lang="it-IT" sz="1500"/>
          </a:p>
        </p:txBody>
      </p:sp>
    </p:spTree>
    <p:extLst>
      <p:ext uri="{BB962C8B-B14F-4D97-AF65-F5344CB8AC3E}">
        <p14:creationId xmlns:p14="http://schemas.microsoft.com/office/powerpoint/2010/main" val="333148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01DA-9672-1065-7183-90C7D63F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18">
            <a:extLst>
              <a:ext uri="{FF2B5EF4-FFF2-40B4-BE49-F238E27FC236}">
                <a16:creationId xmlns:a16="http://schemas.microsoft.com/office/drawing/2014/main" id="{180731EE-B1E6-BB6F-4EEC-E5B6E1AE0A07}"/>
              </a:ext>
            </a:extLst>
          </p:cNvPr>
          <p:cNvSpPr/>
          <p:nvPr/>
        </p:nvSpPr>
        <p:spPr>
          <a:xfrm>
            <a:off x="876005" y="1882641"/>
            <a:ext cx="4773168" cy="226402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059AB67-1A32-47B9-2F8E-6E9380CEDDF6}"/>
              </a:ext>
            </a:extLst>
          </p:cNvPr>
          <p:cNvSpPr/>
          <p:nvPr/>
        </p:nvSpPr>
        <p:spPr>
          <a:xfrm>
            <a:off x="685800" y="3657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5FB4"/>
                </a:solidFill>
              </a:rPr>
              <a:t>SINGLE-TASK</a:t>
            </a:r>
            <a:endParaRPr lang="en-US" sz="10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A943FB7-6487-E125-BE64-4D9EDFD840F2}"/>
              </a:ext>
            </a:extLst>
          </p:cNvPr>
          <p:cNvSpPr/>
          <p:nvPr/>
        </p:nvSpPr>
        <p:spPr>
          <a:xfrm>
            <a:off x="685800" y="6675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Single-Task RGB Baselines</a:t>
            </a:r>
            <a:endParaRPr lang="en-US" sz="3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0BE8414F-F834-BB34-03B1-086AF7673510}"/>
              </a:ext>
            </a:extLst>
          </p:cNvPr>
          <p:cNvSpPr/>
          <p:nvPr/>
        </p:nvSpPr>
        <p:spPr>
          <a:xfrm>
            <a:off x="685800" y="1199388"/>
            <a:ext cx="10058400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Before joint training, two independent RGB baselines were trained.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7396C3-D6B2-14A8-E11A-B5D4AB535C4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CB472ACD-4688-07D3-3FD8-938302BB87F0}"/>
              </a:ext>
            </a:extLst>
          </p:cNvPr>
          <p:cNvSpPr/>
          <p:nvPr/>
        </p:nvSpPr>
        <p:spPr>
          <a:xfrm>
            <a:off x="1097280" y="469499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Fake-only accuracy</a:t>
            </a:r>
            <a:endParaRPr lang="en-US" sz="1600" dirty="0"/>
          </a:p>
        </p:txBody>
      </p:sp>
      <p:sp>
        <p:nvSpPr>
          <p:cNvPr id="78" name="Shape 15">
            <a:extLst>
              <a:ext uri="{FF2B5EF4-FFF2-40B4-BE49-F238E27FC236}">
                <a16:creationId xmlns:a16="http://schemas.microsoft.com/office/drawing/2014/main" id="{B7561EB4-759B-300E-E387-C9BCEE03B93C}"/>
              </a:ext>
            </a:extLst>
          </p:cNvPr>
          <p:cNvSpPr/>
          <p:nvPr/>
        </p:nvSpPr>
        <p:spPr>
          <a:xfrm>
            <a:off x="3611880" y="4740718"/>
            <a:ext cx="5486400" cy="109728"/>
          </a:xfrm>
          <a:prstGeom prst="roundRect">
            <a:avLst>
              <a:gd name="adj" fmla="val 33333"/>
            </a:avLst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7BD71947-49B5-F294-6D40-4AEACA55980D}"/>
              </a:ext>
            </a:extLst>
          </p:cNvPr>
          <p:cNvSpPr/>
          <p:nvPr/>
        </p:nvSpPr>
        <p:spPr>
          <a:xfrm>
            <a:off x="3611880" y="4740718"/>
            <a:ext cx="5084247" cy="109728"/>
          </a:xfrm>
          <a:prstGeom prst="roundRect">
            <a:avLst>
              <a:gd name="adj" fmla="val 33333"/>
            </a:avLst>
          </a:prstGeom>
          <a:solidFill>
            <a:srgbClr val="1665B5"/>
          </a:solidFill>
          <a:ln w="12700">
            <a:solidFill>
              <a:srgbClr val="1665B5"/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CF6A2D45-5DC9-F208-C307-CEF1408E0F98}"/>
              </a:ext>
            </a:extLst>
          </p:cNvPr>
          <p:cNvSpPr/>
          <p:nvPr/>
        </p:nvSpPr>
        <p:spPr>
          <a:xfrm>
            <a:off x="9208008" y="468585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92.67%</a:t>
            </a:r>
            <a:endParaRPr lang="en-US" sz="1600" dirty="0"/>
          </a:p>
        </p:txBody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383DAF78-2C48-A73B-C102-CDCA03771BC5}"/>
              </a:ext>
            </a:extLst>
          </p:cNvPr>
          <p:cNvSpPr/>
          <p:nvPr/>
        </p:nvSpPr>
        <p:spPr>
          <a:xfrm>
            <a:off x="1097280" y="521620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Transform-only accuracy</a:t>
            </a:r>
            <a:endParaRPr lang="en-US" sz="1600" dirty="0"/>
          </a:p>
        </p:txBody>
      </p:sp>
      <p:sp>
        <p:nvSpPr>
          <p:cNvPr id="86" name="Shape 19">
            <a:extLst>
              <a:ext uri="{FF2B5EF4-FFF2-40B4-BE49-F238E27FC236}">
                <a16:creationId xmlns:a16="http://schemas.microsoft.com/office/drawing/2014/main" id="{7ADF560A-123E-C962-B919-42D3292D6B98}"/>
              </a:ext>
            </a:extLst>
          </p:cNvPr>
          <p:cNvSpPr/>
          <p:nvPr/>
        </p:nvSpPr>
        <p:spPr>
          <a:xfrm>
            <a:off x="3611880" y="5261926"/>
            <a:ext cx="5486400" cy="109728"/>
          </a:xfrm>
          <a:prstGeom prst="roundRect">
            <a:avLst>
              <a:gd name="adj" fmla="val 33333"/>
            </a:avLst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88" name="Shape 20">
            <a:extLst>
              <a:ext uri="{FF2B5EF4-FFF2-40B4-BE49-F238E27FC236}">
                <a16:creationId xmlns:a16="http://schemas.microsoft.com/office/drawing/2014/main" id="{6D83385F-ABC5-01E9-0345-8E903C960ECE}"/>
              </a:ext>
            </a:extLst>
          </p:cNvPr>
          <p:cNvSpPr/>
          <p:nvPr/>
        </p:nvSpPr>
        <p:spPr>
          <a:xfrm>
            <a:off x="3611880" y="5261926"/>
            <a:ext cx="4644000" cy="109728"/>
          </a:xfrm>
          <a:prstGeom prst="roundRect">
            <a:avLst>
              <a:gd name="adj" fmla="val 33333"/>
            </a:avLst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6233859C-DCBB-D39E-72F2-0A99E2654A77}"/>
              </a:ext>
            </a:extLst>
          </p:cNvPr>
          <p:cNvSpPr/>
          <p:nvPr/>
        </p:nvSpPr>
        <p:spPr>
          <a:xfrm>
            <a:off x="9208007" y="5207062"/>
            <a:ext cx="978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82.22%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05710D-7033-9AC2-F51D-C4B2A74AA6ED}"/>
              </a:ext>
            </a:extLst>
          </p:cNvPr>
          <p:cNvSpPr txBox="1"/>
          <p:nvPr/>
        </p:nvSpPr>
        <p:spPr>
          <a:xfrm>
            <a:off x="2134485" y="2107692"/>
            <a:ext cx="217627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91F38"/>
                </a:solidFill>
                <a:latin typeface="Aptos"/>
              </a:rPr>
              <a:t>Fake-only baseline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657CF-6D48-4C3F-5A76-9F6F9BDF48D8}"/>
              </a:ext>
            </a:extLst>
          </p:cNvPr>
          <p:cNvSpPr txBox="1"/>
          <p:nvPr/>
        </p:nvSpPr>
        <p:spPr>
          <a:xfrm>
            <a:off x="1005840" y="2582541"/>
            <a:ext cx="192024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 dirty="0">
                <a:solidFill>
                  <a:srgbClr val="1565C0"/>
                </a:solidFill>
                <a:latin typeface="Aptos"/>
              </a:rPr>
              <a:t>92.</a:t>
            </a:r>
            <a:r>
              <a:rPr lang="it-IT" sz="3100" b="1" dirty="0">
                <a:solidFill>
                  <a:srgbClr val="1565C0"/>
                </a:solidFill>
                <a:latin typeface="Aptos"/>
              </a:rPr>
              <a:t>67%</a:t>
            </a:r>
            <a:endParaRPr sz="3100" b="1" dirty="0">
              <a:solidFill>
                <a:srgbClr val="1565C0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C444F5-DE65-B812-01E4-2A36736B53B1}"/>
              </a:ext>
            </a:extLst>
          </p:cNvPr>
          <p:cNvSpPr txBox="1"/>
          <p:nvPr/>
        </p:nvSpPr>
        <p:spPr>
          <a:xfrm>
            <a:off x="914400" y="308546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7089"/>
                </a:solidFill>
                <a:latin typeface="Aptos"/>
              </a:rPr>
              <a:t>accuracy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4C191-D307-7884-ABC1-078C9AD0F8BD}"/>
              </a:ext>
            </a:extLst>
          </p:cNvPr>
          <p:cNvSpPr txBox="1"/>
          <p:nvPr/>
        </p:nvSpPr>
        <p:spPr>
          <a:xfrm>
            <a:off x="3383280" y="2582541"/>
            <a:ext cx="192024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 dirty="0">
                <a:solidFill>
                  <a:srgbClr val="1565C0"/>
                </a:solidFill>
                <a:latin typeface="Aptos"/>
              </a:rPr>
              <a:t>92.</a:t>
            </a:r>
            <a:r>
              <a:rPr lang="it-IT" sz="3100" b="1" dirty="0">
                <a:solidFill>
                  <a:srgbClr val="1565C0"/>
                </a:solidFill>
                <a:latin typeface="Aptos"/>
              </a:rPr>
              <a:t>67</a:t>
            </a:r>
            <a:r>
              <a:rPr sz="3100" b="1" dirty="0">
                <a:solidFill>
                  <a:srgbClr val="1565C0"/>
                </a:solidFill>
                <a:latin typeface="Aptos"/>
              </a:rPr>
              <a:t>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125B99-9572-AFBC-27AB-4ED09C49D420}"/>
              </a:ext>
            </a:extLst>
          </p:cNvPr>
          <p:cNvSpPr txBox="1"/>
          <p:nvPr/>
        </p:nvSpPr>
        <p:spPr>
          <a:xfrm>
            <a:off x="3291840" y="308546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7089"/>
                </a:solidFill>
                <a:latin typeface="Aptos"/>
              </a:rPr>
              <a:t>macro F1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838397-8AF8-ADBD-22D6-1F43AB2C0338}"/>
              </a:ext>
            </a:extLst>
          </p:cNvPr>
          <p:cNvSpPr txBox="1"/>
          <p:nvPr/>
        </p:nvSpPr>
        <p:spPr>
          <a:xfrm>
            <a:off x="2423160" y="3469509"/>
            <a:ext cx="1554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B0F0"/>
                </a:solidFill>
                <a:latin typeface="Aptos"/>
              </a:rPr>
              <a:t>41</a:t>
            </a:r>
            <a:r>
              <a:rPr lang="it-IT" sz="2400" b="1" dirty="0">
                <a:solidFill>
                  <a:srgbClr val="00B0F0"/>
                </a:solidFill>
                <a:latin typeface="Aptos"/>
              </a:rPr>
              <a:t>7</a:t>
            </a:r>
            <a:r>
              <a:rPr sz="2400" b="1" dirty="0">
                <a:solidFill>
                  <a:srgbClr val="00B0F0"/>
                </a:solidFill>
                <a:latin typeface="Aptos"/>
              </a:rPr>
              <a:t>/450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914CEF-0699-3A8A-6671-9EDC56A2429A}"/>
              </a:ext>
            </a:extLst>
          </p:cNvPr>
          <p:cNvSpPr txBox="1"/>
          <p:nvPr/>
        </p:nvSpPr>
        <p:spPr>
          <a:xfrm>
            <a:off x="2176272" y="3816981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dirty="0">
                <a:solidFill>
                  <a:srgbClr val="5B7089"/>
                </a:solidFill>
                <a:latin typeface="Aptos"/>
              </a:rPr>
              <a:t>correct predictions</a:t>
            </a:r>
          </a:p>
        </p:txBody>
      </p: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3F5024DE-AD3A-E335-77E4-28DEB219EC75}"/>
              </a:ext>
            </a:extLst>
          </p:cNvPr>
          <p:cNvSpPr/>
          <p:nvPr/>
        </p:nvSpPr>
        <p:spPr>
          <a:xfrm>
            <a:off x="6293628" y="1870393"/>
            <a:ext cx="4773168" cy="226402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0AA354-22E9-6082-7C14-9C139B11D3F8}"/>
              </a:ext>
            </a:extLst>
          </p:cNvPr>
          <p:cNvSpPr txBox="1"/>
          <p:nvPr/>
        </p:nvSpPr>
        <p:spPr>
          <a:xfrm>
            <a:off x="7374636" y="2066077"/>
            <a:ext cx="2880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091F38"/>
                </a:solidFill>
                <a:latin typeface="Aptos"/>
              </a:rPr>
              <a:t>Transform-only baseline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63A139-D2D5-F45B-F825-2AA96FDB9F02}"/>
              </a:ext>
            </a:extLst>
          </p:cNvPr>
          <p:cNvSpPr txBox="1"/>
          <p:nvPr/>
        </p:nvSpPr>
        <p:spPr>
          <a:xfrm>
            <a:off x="6528816" y="2582541"/>
            <a:ext cx="192024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3100" b="1" dirty="0">
                <a:solidFill>
                  <a:srgbClr val="2CA972"/>
                </a:solidFill>
                <a:latin typeface="Aptos"/>
              </a:rPr>
              <a:t>82.22</a:t>
            </a:r>
            <a:r>
              <a:rPr sz="3100" b="1" dirty="0">
                <a:solidFill>
                  <a:srgbClr val="2CA972"/>
                </a:solidFill>
                <a:latin typeface="Aptos"/>
              </a:rPr>
              <a:t>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DB41E4-43B9-A0CE-3451-353656E486D9}"/>
              </a:ext>
            </a:extLst>
          </p:cNvPr>
          <p:cNvSpPr txBox="1"/>
          <p:nvPr/>
        </p:nvSpPr>
        <p:spPr>
          <a:xfrm>
            <a:off x="6437376" y="308546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7089"/>
                </a:solidFill>
                <a:latin typeface="Aptos"/>
              </a:rPr>
              <a:t>accuracy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185539-2AB8-398B-C678-75A09780E4A6}"/>
              </a:ext>
            </a:extLst>
          </p:cNvPr>
          <p:cNvSpPr txBox="1"/>
          <p:nvPr/>
        </p:nvSpPr>
        <p:spPr>
          <a:xfrm>
            <a:off x="8906256" y="2582541"/>
            <a:ext cx="192024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3100" b="1" dirty="0">
                <a:solidFill>
                  <a:srgbClr val="2CA972"/>
                </a:solidFill>
                <a:latin typeface="Aptos"/>
              </a:rPr>
              <a:t>82.15</a:t>
            </a:r>
            <a:r>
              <a:rPr sz="3100" b="1" dirty="0">
                <a:solidFill>
                  <a:srgbClr val="2CA972"/>
                </a:solidFill>
                <a:latin typeface="Aptos"/>
              </a:rPr>
              <a:t>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DE6271-BEFF-3E03-410B-ED44FB3AF1C7}"/>
              </a:ext>
            </a:extLst>
          </p:cNvPr>
          <p:cNvSpPr txBox="1"/>
          <p:nvPr/>
        </p:nvSpPr>
        <p:spPr>
          <a:xfrm>
            <a:off x="8814816" y="308546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7089"/>
                </a:solidFill>
                <a:latin typeface="Aptos"/>
              </a:rPr>
              <a:t>macro F1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0C8670-EC0B-4046-28BD-805275EDAE18}"/>
              </a:ext>
            </a:extLst>
          </p:cNvPr>
          <p:cNvSpPr txBox="1"/>
          <p:nvPr/>
        </p:nvSpPr>
        <p:spPr>
          <a:xfrm>
            <a:off x="8037576" y="3432933"/>
            <a:ext cx="1554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B050"/>
                </a:solidFill>
                <a:latin typeface="Aptos"/>
              </a:rPr>
              <a:t>3</a:t>
            </a:r>
            <a:r>
              <a:rPr lang="it-IT" sz="2400" b="1" dirty="0">
                <a:solidFill>
                  <a:srgbClr val="00B050"/>
                </a:solidFill>
                <a:latin typeface="Aptos"/>
              </a:rPr>
              <a:t>70</a:t>
            </a:r>
            <a:r>
              <a:rPr sz="2400" b="1" dirty="0">
                <a:solidFill>
                  <a:srgbClr val="00B050"/>
                </a:solidFill>
                <a:latin typeface="Aptos"/>
              </a:rPr>
              <a:t>/450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54E5FC-D081-470D-29B9-BB77136339C3}"/>
              </a:ext>
            </a:extLst>
          </p:cNvPr>
          <p:cNvSpPr txBox="1"/>
          <p:nvPr/>
        </p:nvSpPr>
        <p:spPr>
          <a:xfrm>
            <a:off x="7763256" y="3810589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dirty="0">
                <a:solidFill>
                  <a:srgbClr val="5B7089"/>
                </a:solidFill>
                <a:latin typeface="Aptos"/>
              </a:rPr>
              <a:t>correct predictions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32275D-D244-632F-EEB1-6413C5CCC5EF}"/>
              </a:ext>
            </a:extLst>
          </p:cNvPr>
          <p:cNvSpPr txBox="1"/>
          <p:nvPr/>
        </p:nvSpPr>
        <p:spPr>
          <a:xfrm>
            <a:off x="914400" y="5950826"/>
            <a:ext cx="10149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b="1" dirty="0">
                <a:solidFill>
                  <a:srgbClr val="091F38"/>
                </a:solidFill>
                <a:latin typeface="Aptos"/>
              </a:rPr>
              <a:t>A</a:t>
            </a:r>
            <a:r>
              <a:rPr b="1" dirty="0" err="1">
                <a:solidFill>
                  <a:srgbClr val="091F38"/>
                </a:solidFill>
                <a:latin typeface="Aptos"/>
              </a:rPr>
              <a:t>uthenticity</a:t>
            </a:r>
            <a:r>
              <a:rPr b="1" dirty="0">
                <a:solidFill>
                  <a:srgbClr val="091F38"/>
                </a:solidFill>
                <a:latin typeface="Aptos"/>
              </a:rPr>
              <a:t> classification is easier than reconstructing the post-processing state from RGB alone.</a:t>
            </a:r>
          </a:p>
        </p:txBody>
      </p:sp>
    </p:spTree>
    <p:extLst>
      <p:ext uri="{BB962C8B-B14F-4D97-AF65-F5344CB8AC3E}">
        <p14:creationId xmlns:p14="http://schemas.microsoft.com/office/powerpoint/2010/main" val="3824813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8B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393192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565C0"/>
                </a:solidFill>
                <a:latin typeface="Aptos"/>
              </a:rPr>
              <a:t>MULTI-TASK</a:t>
            </a:r>
            <a:endParaRPr sz="1100" b="1" dirty="0">
              <a:solidFill>
                <a:srgbClr val="1565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84124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091F38"/>
                </a:solidFill>
                <a:latin typeface="Aptos"/>
              </a:rPr>
              <a:t>Multi-Task Learning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389888"/>
            <a:ext cx="10698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dirty="0">
                <a:solidFill>
                  <a:srgbClr val="5B7089"/>
                </a:solidFill>
                <a:latin typeface="Aptos"/>
              </a:rPr>
              <a:t>The multi-task model predicts both outputs at the same time and trains the shared backbone with a weighted sum of two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2288362"/>
            <a:ext cx="274320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0724" y="2560003"/>
            <a:ext cx="199339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1565C0"/>
                </a:solidFill>
                <a:latin typeface="Aptos"/>
              </a:rPr>
              <a:t>Real/Fake</a:t>
            </a:r>
            <a:br>
              <a:rPr dirty="0"/>
            </a:br>
            <a:r>
              <a:rPr sz="1800" b="1" dirty="0">
                <a:solidFill>
                  <a:srgbClr val="1565C0"/>
                </a:solidFill>
                <a:latin typeface="Aptos"/>
              </a:rPr>
              <a:t>C</a:t>
            </a:r>
            <a:r>
              <a:rPr lang="it-IT" sz="1800" b="1" dirty="0" err="1">
                <a:solidFill>
                  <a:srgbClr val="1565C0"/>
                </a:solidFill>
                <a:latin typeface="Aptos"/>
              </a:rPr>
              <a:t>ross</a:t>
            </a:r>
            <a:r>
              <a:rPr lang="it-IT" sz="1800" b="1" dirty="0">
                <a:solidFill>
                  <a:srgbClr val="1565C0"/>
                </a:solidFill>
                <a:latin typeface="Aptos"/>
              </a:rPr>
              <a:t> </a:t>
            </a:r>
            <a:r>
              <a:rPr sz="1800" b="1" dirty="0">
                <a:solidFill>
                  <a:srgbClr val="1565C0"/>
                </a:solidFill>
                <a:latin typeface="Aptos"/>
              </a:rPr>
              <a:t>E</a:t>
            </a:r>
            <a:r>
              <a:rPr lang="it-IT" sz="1800" b="1" dirty="0" err="1">
                <a:solidFill>
                  <a:srgbClr val="1565C0"/>
                </a:solidFill>
                <a:latin typeface="Aptos"/>
              </a:rPr>
              <a:t>ntropy</a:t>
            </a:r>
            <a:r>
              <a:rPr sz="1800" b="1" dirty="0">
                <a:solidFill>
                  <a:srgbClr val="1565C0"/>
                </a:solidFill>
                <a:latin typeface="Aptos"/>
              </a:rPr>
              <a:t>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3952570"/>
            <a:ext cx="274320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195993"/>
            <a:ext cx="21488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2CA972"/>
                </a:solidFill>
                <a:latin typeface="Aptos"/>
              </a:rPr>
              <a:t>Transformation</a:t>
            </a:r>
            <a:br>
              <a:rPr dirty="0"/>
            </a:br>
            <a:r>
              <a:rPr sz="1800" b="1" dirty="0">
                <a:solidFill>
                  <a:srgbClr val="2CA972"/>
                </a:solidFill>
                <a:latin typeface="Aptos"/>
              </a:rPr>
              <a:t>C</a:t>
            </a:r>
            <a:r>
              <a:rPr lang="it-IT" sz="1800" b="1" dirty="0" err="1">
                <a:solidFill>
                  <a:srgbClr val="2CA972"/>
                </a:solidFill>
                <a:latin typeface="Aptos"/>
              </a:rPr>
              <a:t>ross</a:t>
            </a:r>
            <a:r>
              <a:rPr lang="it-IT" sz="1800" b="1" dirty="0">
                <a:solidFill>
                  <a:srgbClr val="2CA972"/>
                </a:solidFill>
                <a:latin typeface="Aptos"/>
              </a:rPr>
              <a:t> </a:t>
            </a:r>
            <a:r>
              <a:rPr sz="1800" b="1" dirty="0">
                <a:solidFill>
                  <a:srgbClr val="2CA972"/>
                </a:solidFill>
                <a:latin typeface="Aptos"/>
              </a:rPr>
              <a:t>E</a:t>
            </a:r>
            <a:r>
              <a:rPr lang="it-IT" sz="1800" b="1" dirty="0" err="1">
                <a:solidFill>
                  <a:srgbClr val="2CA972"/>
                </a:solidFill>
                <a:latin typeface="Aptos"/>
              </a:rPr>
              <a:t>ntropy</a:t>
            </a:r>
            <a:r>
              <a:rPr sz="1800" b="1" dirty="0">
                <a:solidFill>
                  <a:srgbClr val="2CA972"/>
                </a:solidFill>
                <a:latin typeface="Aptos"/>
              </a:rPr>
              <a:t>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3129610"/>
            <a:ext cx="2148840" cy="960120"/>
          </a:xfrm>
          <a:prstGeom prst="roundRect">
            <a:avLst/>
          </a:prstGeom>
          <a:solidFill>
            <a:srgbClr val="EEF7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3330778"/>
            <a:ext cx="13258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91F38"/>
                </a:solidFill>
                <a:latin typeface="Aptos"/>
              </a:rPr>
              <a:t>Weighted</a:t>
            </a:r>
            <a:br/>
            <a:r>
              <a:rPr sz="1800" b="1">
                <a:solidFill>
                  <a:srgbClr val="091F38"/>
                </a:solidFill>
                <a:latin typeface="Aptos"/>
              </a:rPr>
              <a:t>sum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129610"/>
            <a:ext cx="278892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3339922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91F38"/>
                </a:solidFill>
                <a:latin typeface="Aptos"/>
              </a:rPr>
              <a:t>Shared backbone</a:t>
            </a:r>
            <a:br/>
            <a:r>
              <a:rPr sz="1800" b="1">
                <a:solidFill>
                  <a:srgbClr val="091F38"/>
                </a:solidFill>
                <a:latin typeface="Aptos"/>
              </a:rPr>
              <a:t>update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02736" y="2837002"/>
            <a:ext cx="1042416" cy="612648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602736" y="3769690"/>
            <a:ext cx="1042416" cy="731520"/>
          </a:xfrm>
          <a:prstGeom prst="line">
            <a:avLst/>
          </a:prstGeom>
          <a:ln w="25400">
            <a:solidFill>
              <a:srgbClr val="2CA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93992" y="3605098"/>
            <a:ext cx="1024128" cy="0"/>
          </a:xfrm>
          <a:prstGeom prst="line">
            <a:avLst/>
          </a:prstGeom>
          <a:ln w="25400">
            <a:solidFill>
              <a:srgbClr val="091F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5552770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091F38"/>
                </a:solidFill>
                <a:latin typeface="Aptos"/>
              </a:rPr>
              <a:t>L_total = λ_fake · CE_fake + λ_transform · CE_transform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6009970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B7089"/>
                </a:solidFill>
                <a:latin typeface="Aptos"/>
              </a:rPr>
              <a:t>λ controls how much importance is assigned to each task during training.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ounded Rectangle 46">
            <a:extLst>
              <a:ext uri="{FF2B5EF4-FFF2-40B4-BE49-F238E27FC236}">
                <a16:creationId xmlns:a16="http://schemas.microsoft.com/office/drawing/2014/main" id="{1ECE8561-CC95-CBB9-EF66-CC931241F8E9}"/>
              </a:ext>
            </a:extLst>
          </p:cNvPr>
          <p:cNvSpPr/>
          <p:nvPr/>
        </p:nvSpPr>
        <p:spPr>
          <a:xfrm>
            <a:off x="904509" y="5708024"/>
            <a:ext cx="8191213" cy="9072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8B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" y="3931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4124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91F3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Manual Loss-Weight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408176"/>
            <a:ext cx="107899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The multi-task model is sensitive to how the two objectives are weighted.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" y="4448048"/>
            <a:ext cx="3154680" cy="1038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97279" y="4643119"/>
            <a:ext cx="45719" cy="693611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80160" y="4594352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Best fake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886960"/>
            <a:ext cx="2514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MT </a:t>
            </a:r>
            <a:r>
              <a:rPr lang="it-IT" sz="1600" dirty="0">
                <a:latin typeface="Aptos"/>
              </a:rPr>
              <a:t>2:1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 gives the highest fake accuracy.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79392" y="4448048"/>
            <a:ext cx="3154680" cy="1038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480558" y="4643119"/>
            <a:ext cx="45719" cy="687773"/>
          </a:xfrm>
          <a:prstGeom prst="rect">
            <a:avLst/>
          </a:prstGeom>
          <a:solidFill>
            <a:srgbClr val="2CA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63440" y="4594352"/>
            <a:ext cx="2743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Best transformation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886960"/>
            <a:ext cx="2514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MT 1: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 gives the highest transform accuracy.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62672" y="4448048"/>
            <a:ext cx="3154680" cy="1038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836408" y="4643119"/>
            <a:ext cx="45719" cy="68777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4571202"/>
            <a:ext cx="25603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Learned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uncertainty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weighting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08085" y="6164410"/>
            <a:ext cx="76451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it-IT" sz="1600" noProof="1"/>
              <a:t>Prioritizing one loss improves its corresponding task, but slightly reduces the other one.</a:t>
            </a:r>
            <a:br>
              <a:rPr lang="it-IT" sz="1600" noProof="1"/>
            </a:br>
            <a:endParaRPr kumimoji="0" lang="it-IT" sz="1600" b="0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D4A58089-658A-601A-52ED-371E14213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90156"/>
              </p:ext>
            </p:extLst>
          </p:nvPr>
        </p:nvGraphicFramePr>
        <p:xfrm>
          <a:off x="690370" y="1935101"/>
          <a:ext cx="9870950" cy="204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190">
                  <a:extLst>
                    <a:ext uri="{9D8B030D-6E8A-4147-A177-3AD203B41FA5}">
                      <a16:colId xmlns:a16="http://schemas.microsoft.com/office/drawing/2014/main" val="294759772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2132361140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2229985710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3458627234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4237886236"/>
                    </a:ext>
                  </a:extLst>
                </a:gridCol>
              </a:tblGrid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Fake Acc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Fake F1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n>
                            <a:noFill/>
                          </a:ln>
                        </a:rPr>
                        <a:t>Transform</a:t>
                      </a:r>
                      <a:r>
                        <a:rPr lang="it-IT" dirty="0">
                          <a:ln>
                            <a:noFill/>
                          </a:ln>
                        </a:rPr>
                        <a:t> Acc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n>
                            <a:noFill/>
                          </a:ln>
                        </a:rPr>
                        <a:t>Transform</a:t>
                      </a:r>
                      <a:r>
                        <a:rPr lang="it-IT" dirty="0">
                          <a:ln>
                            <a:noFill/>
                          </a:ln>
                        </a:rPr>
                        <a:t> F1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679809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MT 1:1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91.55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91.54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79.33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79.01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71505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MT 1:2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91.18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91.17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CA972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82.00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CA972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81.94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228787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MT 2:1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565C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92.44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565C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92.43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81.56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81.15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8501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Learned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90.89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90.87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81.33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81.33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181481"/>
                  </a:ext>
                </a:extLst>
              </a:tr>
            </a:tbl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F8301DCD-0076-827D-577D-7E78CB36A887}"/>
              </a:ext>
            </a:extLst>
          </p:cNvPr>
          <p:cNvSpPr/>
          <p:nvPr/>
        </p:nvSpPr>
        <p:spPr>
          <a:xfrm>
            <a:off x="1097279" y="5903095"/>
            <a:ext cx="45719" cy="4924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CDBD6F-C7D7-3692-9D40-ABCCAF180747}"/>
              </a:ext>
            </a:extLst>
          </p:cNvPr>
          <p:cNvSpPr txBox="1"/>
          <p:nvPr/>
        </p:nvSpPr>
        <p:spPr>
          <a:xfrm>
            <a:off x="1288557" y="5854328"/>
            <a:ext cx="66479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  <a:ea typeface="+mn-ea"/>
                <a:cs typeface="+mn-cs"/>
              </a:rPr>
              <a:t>Trade-off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7C54A2-6F96-4EC9-DB71-8A168858657A}"/>
              </a:ext>
            </a:extLst>
          </p:cNvPr>
          <p:cNvSpPr txBox="1"/>
          <p:nvPr/>
        </p:nvSpPr>
        <p:spPr>
          <a:xfrm>
            <a:off x="7922717" y="5125200"/>
            <a:ext cx="2638603" cy="34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Did not improve the results.</a:t>
            </a:r>
            <a:endParaRPr lang="it-IT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99A2-17DD-82BB-3DA8-C658C811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633C5E-0684-2F01-7E8F-9F5DEED6806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8B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21662-0745-1527-8C75-3752BBB354DF}"/>
              </a:ext>
            </a:extLst>
          </p:cNvPr>
          <p:cNvSpPr txBox="1"/>
          <p:nvPr/>
        </p:nvSpPr>
        <p:spPr>
          <a:xfrm>
            <a:off x="694944" y="3931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ABLATION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42F9E-5696-1007-00C6-367FCB2D2FC3}"/>
              </a:ext>
            </a:extLst>
          </p:cNvPr>
          <p:cNvSpPr txBox="1"/>
          <p:nvPr/>
        </p:nvSpPr>
        <p:spPr>
          <a:xfrm>
            <a:off x="694944" y="841248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defRPr/>
            </a:pPr>
            <a:r>
              <a:rPr lang="it-IT" sz="3000" b="1" noProof="1">
                <a:solidFill>
                  <a:srgbClr val="091F38"/>
                </a:solidFill>
              </a:rPr>
              <a:t>Single-task vs Multi-task Comparison</a:t>
            </a:r>
            <a:endParaRPr kumimoji="0" lang="it-IT" sz="3000" b="1" i="0" u="none" strike="noStrike" kern="1200" cap="none" spc="0" normalizeH="0" baseline="0" noProof="1">
              <a:ln>
                <a:noFill/>
              </a:ln>
              <a:solidFill>
                <a:srgbClr val="091F3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A654D-A792-86E5-EA87-1B280CC493E5}"/>
              </a:ext>
            </a:extLst>
          </p:cNvPr>
          <p:cNvSpPr txBox="1"/>
          <p:nvPr/>
        </p:nvSpPr>
        <p:spPr>
          <a:xfrm>
            <a:off x="694944" y="1408176"/>
            <a:ext cx="1078992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defRPr/>
            </a:pPr>
            <a:r>
              <a:rPr lang="en-US" sz="1900" dirty="0"/>
              <a:t>The joint model is compared against the two independent RGB baselines to verify whether multi-task learning helps or hurts each task.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AA0319E-241B-7878-455C-01C9EC4DCC11}"/>
              </a:ext>
            </a:extLst>
          </p:cNvPr>
          <p:cNvSpPr/>
          <p:nvPr/>
        </p:nvSpPr>
        <p:spPr>
          <a:xfrm>
            <a:off x="896112" y="5449843"/>
            <a:ext cx="9870950" cy="1038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385A07-B739-FA19-50E7-39AFF12EC4B8}"/>
              </a:ext>
            </a:extLst>
          </p:cNvPr>
          <p:cNvSpPr txBox="1"/>
          <p:nvPr/>
        </p:nvSpPr>
        <p:spPr>
          <a:xfrm>
            <a:off x="1213866" y="5553520"/>
            <a:ext cx="9235441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defRPr/>
            </a:pPr>
            <a:r>
              <a:rPr lang="it-IT" b="1" noProof="1"/>
              <a:t>Single-task baselines </a:t>
            </a:r>
            <a:r>
              <a:rPr lang="it-IT" noProof="1"/>
              <a:t>outperform the RGB multi-task models on both objectives. This suggests that, with RGB features alone, the two tasks partially </a:t>
            </a:r>
            <a:r>
              <a:rPr lang="it-IT" b="1" noProof="1"/>
              <a:t>compete</a:t>
            </a:r>
            <a:r>
              <a:rPr lang="it-IT" noProof="1"/>
              <a:t> for the same shared representation rather than supporting each other.</a:t>
            </a:r>
            <a:endParaRPr kumimoji="0" lang="it-IT" b="0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98" name="Table 97">
            <a:extLst>
              <a:ext uri="{FF2B5EF4-FFF2-40B4-BE49-F238E27FC236}">
                <a16:creationId xmlns:a16="http://schemas.microsoft.com/office/drawing/2014/main" id="{94234B68-EC25-C955-1A7B-299B778DC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534407"/>
              </p:ext>
            </p:extLst>
          </p:nvPr>
        </p:nvGraphicFramePr>
        <p:xfrm>
          <a:off x="690370" y="2209421"/>
          <a:ext cx="9870950" cy="286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190">
                  <a:extLst>
                    <a:ext uri="{9D8B030D-6E8A-4147-A177-3AD203B41FA5}">
                      <a16:colId xmlns:a16="http://schemas.microsoft.com/office/drawing/2014/main" val="294759772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2132361140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2229985710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3458627234"/>
                    </a:ext>
                  </a:extLst>
                </a:gridCol>
                <a:gridCol w="1974190">
                  <a:extLst>
                    <a:ext uri="{9D8B030D-6E8A-4147-A177-3AD203B41FA5}">
                      <a16:colId xmlns:a16="http://schemas.microsoft.com/office/drawing/2014/main" val="4237886236"/>
                    </a:ext>
                  </a:extLst>
                </a:gridCol>
              </a:tblGrid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Fake Acc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Fake F1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n>
                            <a:noFill/>
                          </a:ln>
                        </a:rPr>
                        <a:t>Transform</a:t>
                      </a:r>
                      <a:r>
                        <a:rPr lang="it-IT" dirty="0">
                          <a:ln>
                            <a:noFill/>
                          </a:ln>
                        </a:rPr>
                        <a:t> Acc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n>
                            <a:noFill/>
                          </a:ln>
                        </a:rPr>
                        <a:t>Transform</a:t>
                      </a:r>
                      <a:r>
                        <a:rPr lang="it-IT" dirty="0">
                          <a:ln>
                            <a:noFill/>
                          </a:ln>
                        </a:rPr>
                        <a:t> F1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679809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Fake-</a:t>
                      </a:r>
                      <a:r>
                        <a:rPr lang="it-IT" dirty="0" err="1">
                          <a:ln>
                            <a:noFill/>
                          </a:ln>
                        </a:rPr>
                        <a:t>only</a:t>
                      </a:r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565C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92.67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565C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92.67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624313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n>
                            <a:noFill/>
                          </a:ln>
                        </a:rPr>
                        <a:t>Transform-only</a:t>
                      </a:r>
                      <a:endParaRPr lang="it-IT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CA972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82.22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it-IT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CA972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82.15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204910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MT 1:1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91.55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91.54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79.33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79.01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71505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MT 1:2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91.18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91.17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82.00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81.94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228787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MT 2:1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92.44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92.43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81.56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81.15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A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8501"/>
                  </a:ext>
                </a:extLst>
              </a:tr>
              <a:tr h="408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Learned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90.89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90.87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81.33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n>
                            <a:noFill/>
                          </a:ln>
                        </a:rPr>
                        <a:t>81.33</a:t>
                      </a:r>
                    </a:p>
                  </a:txBody>
                  <a:tcPr>
                    <a:lnL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E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181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278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8B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3931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65C0"/>
                </a:solidFill>
                <a:latin typeface="Aptos"/>
              </a:rPr>
              <a:t>ROBUSTNESS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4124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91F38"/>
                </a:solidFill>
                <a:latin typeface="Aptos"/>
              </a:rPr>
              <a:t>Real/Fake Accuracy by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408176"/>
            <a:ext cx="107899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dirty="0">
                <a:latin typeface="Aptos"/>
              </a:rPr>
              <a:t>This analysis reveals where the RGB detector becomes weaker.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7296"/>
            <a:ext cx="2286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1565C0"/>
                </a:solidFill>
                <a:latin typeface="Aptos"/>
              </a:rPr>
              <a:t>94.67%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14016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latin typeface="Aptos"/>
              </a:rPr>
              <a:t>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2" y="1987296"/>
            <a:ext cx="2560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48BFEB"/>
                </a:solidFill>
                <a:latin typeface="Aptos"/>
              </a:rPr>
              <a:t>92.67%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414016"/>
            <a:ext cx="2743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latin typeface="Aptos"/>
              </a:rPr>
              <a:t>internet-transmitted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280" y="1987296"/>
            <a:ext cx="2286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84D4D"/>
                </a:solidFill>
                <a:latin typeface="Aptos"/>
              </a:rPr>
              <a:t>90.67%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840" y="2414016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dirty="0">
                <a:latin typeface="Aptos"/>
              </a:rPr>
              <a:t>re-digitized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57" y="3184115"/>
            <a:ext cx="105184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latin typeface="Aptos"/>
              </a:rPr>
              <a:t>Re-digitization</a:t>
            </a:r>
            <a:r>
              <a:rPr sz="2000" b="0" dirty="0">
                <a:latin typeface="Aptos"/>
              </a:rPr>
              <a:t> is the weakest condition for the </a:t>
            </a:r>
            <a:r>
              <a:rPr sz="2000" b="1" dirty="0">
                <a:latin typeface="Aptos"/>
              </a:rPr>
              <a:t>RGB </a:t>
            </a:r>
            <a:r>
              <a:rPr lang="it-IT" sz="2000" b="1" dirty="0">
                <a:latin typeface="Aptos"/>
              </a:rPr>
              <a:t>fake-</a:t>
            </a:r>
            <a:r>
              <a:rPr lang="it-IT" sz="2000" b="1" dirty="0" err="1">
                <a:latin typeface="Aptos"/>
              </a:rPr>
              <a:t>only</a:t>
            </a:r>
            <a:r>
              <a:rPr lang="it-IT" sz="2000" b="1" dirty="0">
                <a:latin typeface="Aptos"/>
              </a:rPr>
              <a:t> </a:t>
            </a:r>
            <a:r>
              <a:rPr sz="2000" b="0" dirty="0">
                <a:latin typeface="Aptos"/>
              </a:rPr>
              <a:t>model</a:t>
            </a:r>
            <a:r>
              <a:rPr lang="it-IT" sz="2000" dirty="0">
                <a:latin typeface="Aptos"/>
              </a:rPr>
              <a:t>, </a:t>
            </a:r>
            <a:r>
              <a:rPr lang="it-IT" sz="2000" dirty="0" err="1">
                <a:latin typeface="Aptos"/>
              </a:rPr>
              <a:t>likely</a:t>
            </a:r>
            <a:r>
              <a:rPr lang="it-IT" sz="2000" dirty="0">
                <a:latin typeface="Aptos"/>
              </a:rPr>
              <a:t> </a:t>
            </a:r>
            <a:r>
              <a:rPr lang="it-IT" sz="2000" dirty="0" err="1">
                <a:latin typeface="Aptos"/>
              </a:rPr>
              <a:t>because</a:t>
            </a:r>
            <a:r>
              <a:rPr lang="it-IT" sz="2000" dirty="0">
                <a:latin typeface="Aptos"/>
              </a:rPr>
              <a:t> </a:t>
            </a:r>
            <a:r>
              <a:rPr lang="it-IT" sz="2000" dirty="0" err="1">
                <a:latin typeface="Aptos"/>
              </a:rPr>
              <a:t>it</a:t>
            </a:r>
            <a:r>
              <a:rPr sz="2000" b="0" dirty="0">
                <a:latin typeface="Aptos"/>
              </a:rPr>
              <a:t> introduces blur, color shifts and geometric distortions.</a:t>
            </a:r>
            <a:endParaRPr lang="it-IT" sz="2000" b="0" dirty="0"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D20FFE-8879-FEC3-408C-F43C96B92AD8}"/>
              </a:ext>
            </a:extLst>
          </p:cNvPr>
          <p:cNvSpPr txBox="1"/>
          <p:nvPr/>
        </p:nvSpPr>
        <p:spPr>
          <a:xfrm>
            <a:off x="694944" y="4348632"/>
            <a:ext cx="825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result is </a:t>
            </a:r>
            <a:r>
              <a:rPr lang="it-IT" sz="2000" dirty="0" err="1"/>
              <a:t>also</a:t>
            </a:r>
            <a:r>
              <a:rPr lang="it-IT" sz="2000" dirty="0"/>
              <a:t> </a:t>
            </a:r>
            <a:r>
              <a:rPr lang="it-IT" sz="2000" dirty="0" err="1"/>
              <a:t>confirmed</a:t>
            </a:r>
            <a:r>
              <a:rPr lang="it-IT" sz="2000" dirty="0"/>
              <a:t> by the best multi-task </a:t>
            </a:r>
            <a:r>
              <a:rPr lang="it-IT" sz="2000" dirty="0" err="1"/>
              <a:t>configuration</a:t>
            </a:r>
            <a:r>
              <a:rPr lang="it-IT" sz="2000" dirty="0"/>
              <a:t>, </a:t>
            </a:r>
            <a:r>
              <a:rPr lang="it-IT" sz="2000" b="1" dirty="0"/>
              <a:t>MT 2:1</a:t>
            </a:r>
            <a:r>
              <a:rPr lang="it-IT" sz="2000" dirty="0"/>
              <a:t>.</a:t>
            </a:r>
            <a:endParaRPr lang="en-US" sz="2000" b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22697E-292B-A443-2B15-0EDDCB8BCE78}"/>
              </a:ext>
            </a:extLst>
          </p:cNvPr>
          <p:cNvSpPr txBox="1"/>
          <p:nvPr/>
        </p:nvSpPr>
        <p:spPr>
          <a:xfrm>
            <a:off x="1082040" y="5066251"/>
            <a:ext cx="2286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1565C0"/>
                </a:solidFill>
                <a:latin typeface="Aptos"/>
              </a:rPr>
              <a:t>9</a:t>
            </a:r>
            <a:r>
              <a:rPr lang="it-IT" sz="2800" b="1" dirty="0">
                <a:solidFill>
                  <a:srgbClr val="1565C0"/>
                </a:solidFill>
                <a:latin typeface="Aptos"/>
              </a:rPr>
              <a:t>3.33</a:t>
            </a:r>
            <a:r>
              <a:rPr sz="2800" b="1" dirty="0">
                <a:solidFill>
                  <a:srgbClr val="1565C0"/>
                </a:solidFill>
                <a:latin typeface="Aptos"/>
              </a:rPr>
              <a:t>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10F06C-4A96-AE84-9B8D-D7DB6656BDF8}"/>
              </a:ext>
            </a:extLst>
          </p:cNvPr>
          <p:cNvSpPr txBox="1"/>
          <p:nvPr/>
        </p:nvSpPr>
        <p:spPr>
          <a:xfrm>
            <a:off x="990600" y="5477731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latin typeface="Aptos"/>
              </a:rPr>
              <a:t>original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33AB83-D25B-DAE6-39AF-74A26F11664D}"/>
              </a:ext>
            </a:extLst>
          </p:cNvPr>
          <p:cNvSpPr txBox="1"/>
          <p:nvPr/>
        </p:nvSpPr>
        <p:spPr>
          <a:xfrm>
            <a:off x="4081272" y="5066251"/>
            <a:ext cx="2560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48BFEB"/>
                </a:solidFill>
                <a:latin typeface="Aptos"/>
              </a:rPr>
              <a:t>92.67%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0F7261-8AEB-7D8E-E0E2-66C3F46A22BD}"/>
              </a:ext>
            </a:extLst>
          </p:cNvPr>
          <p:cNvSpPr txBox="1"/>
          <p:nvPr/>
        </p:nvSpPr>
        <p:spPr>
          <a:xfrm>
            <a:off x="3989832" y="5477731"/>
            <a:ext cx="2743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latin typeface="Aptos"/>
              </a:rPr>
              <a:t>internet-transmitted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BFD84B-CD90-2735-D432-A8BB112693B9}"/>
              </a:ext>
            </a:extLst>
          </p:cNvPr>
          <p:cNvSpPr txBox="1"/>
          <p:nvPr/>
        </p:nvSpPr>
        <p:spPr>
          <a:xfrm>
            <a:off x="7406640" y="5066251"/>
            <a:ext cx="2286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E84D4D"/>
                </a:solidFill>
                <a:latin typeface="Aptos"/>
              </a:rPr>
              <a:t>9</a:t>
            </a:r>
            <a:r>
              <a:rPr lang="it-IT" sz="2800" b="1" dirty="0">
                <a:solidFill>
                  <a:srgbClr val="E84D4D"/>
                </a:solidFill>
                <a:latin typeface="Aptos"/>
              </a:rPr>
              <a:t>1.33</a:t>
            </a:r>
            <a:r>
              <a:rPr sz="2800" b="1" dirty="0">
                <a:solidFill>
                  <a:srgbClr val="E84D4D"/>
                </a:solidFill>
                <a:latin typeface="Aptos"/>
              </a:rPr>
              <a:t>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3A0E9A-BA4F-9051-52CF-CF9F944A6635}"/>
              </a:ext>
            </a:extLst>
          </p:cNvPr>
          <p:cNvSpPr txBox="1"/>
          <p:nvPr/>
        </p:nvSpPr>
        <p:spPr>
          <a:xfrm>
            <a:off x="7315200" y="5477731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latin typeface="Aptos"/>
              </a:rPr>
              <a:t>re-digitized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F4C71-33F5-0A8B-18FC-524F6115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DF45-A1DC-818A-B9B9-66258E97F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832" y="4080933"/>
            <a:ext cx="6852129" cy="1080850"/>
          </a:xfrm>
        </p:spPr>
        <p:txBody>
          <a:bodyPr/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378FF-4994-0FD4-1FC3-219089B20BF9}"/>
              </a:ext>
            </a:extLst>
          </p:cNvPr>
          <p:cNvSpPr txBox="1"/>
          <p:nvPr/>
        </p:nvSpPr>
        <p:spPr>
          <a:xfrm>
            <a:off x="1121833" y="5161783"/>
            <a:ext cx="7886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400" dirty="0">
                <a:solidFill>
                  <a:prstClr val="white"/>
                </a:solidFill>
                <a:latin typeface="Aptos" panose="02110004020202020204"/>
              </a:rPr>
              <a:t>Sottotitolo</a:t>
            </a:r>
            <a:endParaRPr kumimoji="0" lang="it-IT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470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0E17-C4DA-1C9A-9DE7-FC6342A8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6">
            <a:extLst>
              <a:ext uri="{FF2B5EF4-FFF2-40B4-BE49-F238E27FC236}">
                <a16:creationId xmlns:a16="http://schemas.microsoft.com/office/drawing/2014/main" id="{7978A582-1B7B-B677-3159-F7788B5E5A3E}"/>
              </a:ext>
            </a:extLst>
          </p:cNvPr>
          <p:cNvSpPr/>
          <p:nvPr/>
        </p:nvSpPr>
        <p:spPr>
          <a:xfrm>
            <a:off x="685800" y="3657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5FB4"/>
                </a:solidFill>
              </a:rPr>
              <a:t>TITOLO</a:t>
            </a:r>
            <a:endParaRPr lang="en-US" sz="10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A13EC11-AC34-7762-BE09-349F1852DF3A}"/>
              </a:ext>
            </a:extLst>
          </p:cNvPr>
          <p:cNvSpPr/>
          <p:nvPr/>
        </p:nvSpPr>
        <p:spPr>
          <a:xfrm>
            <a:off x="685800" y="6675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Titolo </a:t>
            </a:r>
            <a:endParaRPr lang="en-US" sz="3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00CE166B-E671-F09C-3887-0C49C67F1DFE}"/>
              </a:ext>
            </a:extLst>
          </p:cNvPr>
          <p:cNvSpPr/>
          <p:nvPr/>
        </p:nvSpPr>
        <p:spPr>
          <a:xfrm>
            <a:off x="685800" y="13213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testo</a:t>
            </a:r>
            <a:endParaRPr lang="en-US" dirty="0"/>
          </a:p>
          <a:p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7362FE-0E32-3E7C-C195-F31B51DF3BE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436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2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F8B20-7A4C-2134-42DE-DEDD4459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7A15-AB5D-D2C3-B2C9-4990E2CA5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832" y="4080933"/>
            <a:ext cx="6852129" cy="1080850"/>
          </a:xfrm>
        </p:spPr>
        <p:txBody>
          <a:bodyPr/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Depth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6D76A-CB95-3712-6179-63F7759D5EB7}"/>
              </a:ext>
            </a:extLst>
          </p:cNvPr>
          <p:cNvSpPr txBox="1"/>
          <p:nvPr/>
        </p:nvSpPr>
        <p:spPr>
          <a:xfrm>
            <a:off x="1121833" y="5161783"/>
            <a:ext cx="7886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400" dirty="0">
                <a:solidFill>
                  <a:prstClr val="white"/>
                </a:solidFill>
                <a:latin typeface="Aptos" panose="02110004020202020204"/>
              </a:rPr>
              <a:t>Sottotitolo</a:t>
            </a:r>
            <a:endParaRPr kumimoji="0" lang="it-IT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48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8A34-3250-55F3-E077-39ADDBE3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6">
            <a:extLst>
              <a:ext uri="{FF2B5EF4-FFF2-40B4-BE49-F238E27FC236}">
                <a16:creationId xmlns:a16="http://schemas.microsoft.com/office/drawing/2014/main" id="{45A8B040-4F71-7273-2A27-A9753CF388B1}"/>
              </a:ext>
            </a:extLst>
          </p:cNvPr>
          <p:cNvSpPr/>
          <p:nvPr/>
        </p:nvSpPr>
        <p:spPr>
          <a:xfrm>
            <a:off x="685800" y="3657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5FB4"/>
                </a:solidFill>
              </a:rPr>
              <a:t>TITOLO</a:t>
            </a:r>
            <a:endParaRPr lang="en-US" sz="10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2414807-A683-D82B-0888-848E1994508B}"/>
              </a:ext>
            </a:extLst>
          </p:cNvPr>
          <p:cNvSpPr/>
          <p:nvPr/>
        </p:nvSpPr>
        <p:spPr>
          <a:xfrm>
            <a:off x="685800" y="6675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Titolo </a:t>
            </a:r>
            <a:endParaRPr lang="en-US" sz="3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DAC52C0-69A0-8694-31B7-39FF2B6E3A9B}"/>
              </a:ext>
            </a:extLst>
          </p:cNvPr>
          <p:cNvSpPr/>
          <p:nvPr/>
        </p:nvSpPr>
        <p:spPr>
          <a:xfrm>
            <a:off x="685800" y="13213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latin typeface="Aptos" pitchFamily="34" charset="0"/>
                <a:ea typeface="Aptos" pitchFamily="34" charset="-122"/>
                <a:cs typeface="Aptos" pitchFamily="34" charset="-120"/>
              </a:rPr>
              <a:t>testo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BF2FBA-B2DF-788A-F44B-36F3CC200B1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39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Office PowerPoint</Application>
  <PresentationFormat>Widescreen</PresentationFormat>
  <Paragraphs>237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1_Office Theme</vt:lpstr>
      <vt:lpstr>Tabella da usare se vi serve</vt:lpstr>
      <vt:lpstr>Joint Detection of AI-Generated Images and Post-Processing Alterations in Real-World Scenarios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RGB Baseline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Frequency</vt:lpstr>
      <vt:lpstr>PowerPoint Presentation</vt:lpstr>
      <vt:lpstr>Depth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Annalisa Verrando</dc:creator>
  <cp:lastModifiedBy>Annalisa Verrando</cp:lastModifiedBy>
  <cp:revision>5</cp:revision>
  <dcterms:created xsi:type="dcterms:W3CDTF">2026-07-03T08:34:35Z</dcterms:created>
  <dcterms:modified xsi:type="dcterms:W3CDTF">2026-07-03T14:08:13Z</dcterms:modified>
</cp:coreProperties>
</file>